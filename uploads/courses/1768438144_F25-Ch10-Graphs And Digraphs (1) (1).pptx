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348" r:id="rId2"/>
    <p:sldId id="258" r:id="rId3"/>
    <p:sldId id="257" r:id="rId4"/>
    <p:sldId id="338" r:id="rId5"/>
    <p:sldId id="326" r:id="rId6"/>
    <p:sldId id="327" r:id="rId7"/>
    <p:sldId id="328" r:id="rId8"/>
    <p:sldId id="330" r:id="rId9"/>
    <p:sldId id="331" r:id="rId10"/>
    <p:sldId id="332" r:id="rId11"/>
    <p:sldId id="341" r:id="rId12"/>
    <p:sldId id="333" r:id="rId13"/>
    <p:sldId id="259" r:id="rId14"/>
    <p:sldId id="334" r:id="rId15"/>
    <p:sldId id="339" r:id="rId16"/>
    <p:sldId id="340" r:id="rId17"/>
    <p:sldId id="261" r:id="rId18"/>
    <p:sldId id="260" r:id="rId19"/>
    <p:sldId id="262" r:id="rId20"/>
    <p:sldId id="265" r:id="rId21"/>
    <p:sldId id="266" r:id="rId22"/>
    <p:sldId id="336" r:id="rId23"/>
    <p:sldId id="269" r:id="rId24"/>
    <p:sldId id="306" r:id="rId25"/>
    <p:sldId id="272" r:id="rId26"/>
    <p:sldId id="271" r:id="rId27"/>
    <p:sldId id="307" r:id="rId28"/>
    <p:sldId id="343" r:id="rId29"/>
    <p:sldId id="300" r:id="rId30"/>
    <p:sldId id="273" r:id="rId31"/>
    <p:sldId id="274" r:id="rId32"/>
    <p:sldId id="275" r:id="rId33"/>
    <p:sldId id="344" r:id="rId34"/>
    <p:sldId id="276" r:id="rId35"/>
    <p:sldId id="304" r:id="rId36"/>
    <p:sldId id="345" r:id="rId37"/>
    <p:sldId id="277" r:id="rId38"/>
    <p:sldId id="278" r:id="rId39"/>
    <p:sldId id="279" r:id="rId40"/>
    <p:sldId id="346" r:id="rId41"/>
    <p:sldId id="280" r:id="rId42"/>
    <p:sldId id="305" r:id="rId43"/>
    <p:sldId id="347" r:id="rId44"/>
    <p:sldId id="281" r:id="rId45"/>
    <p:sldId id="282" r:id="rId46"/>
    <p:sldId id="283" r:id="rId4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4" charset="0"/>
        <a:ea typeface="+mn-ea"/>
        <a:cs typeface="+mn-cs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itchFamily="4" charset="0"/>
        <a:ea typeface="+mn-ea"/>
        <a:cs typeface="+mn-cs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itchFamily="4" charset="0"/>
        <a:ea typeface="+mn-ea"/>
        <a:cs typeface="+mn-cs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itchFamily="4" charset="0"/>
        <a:ea typeface="+mn-ea"/>
        <a:cs typeface="+mn-cs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itchFamily="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  <a:srgbClr val="6666FF"/>
    <a:srgbClr val="92A8DE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91" autoAdjust="0"/>
    <p:restoredTop sz="91986" autoAdjust="0"/>
  </p:normalViewPr>
  <p:slideViewPr>
    <p:cSldViewPr snapToGrid="0">
      <p:cViewPr varScale="1">
        <p:scale>
          <a:sx n="102" d="100"/>
          <a:sy n="102" d="100"/>
        </p:scale>
        <p:origin x="207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F20E2B2-198A-374E-8318-C686282051FC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4" charset="0"/>
        <a:ea typeface="ＭＳ Ｐゴシック" pitchFamily="4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4" charset="0"/>
        <a:ea typeface="ＭＳ Ｐゴシック" pitchFamily="4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4" charset="0"/>
        <a:ea typeface="ＭＳ Ｐゴシック" pitchFamily="4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4" charset="0"/>
        <a:ea typeface="ＭＳ Ｐゴシック" pitchFamily="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36638" y="652463"/>
            <a:ext cx="4356100" cy="326707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57250" y="4136572"/>
            <a:ext cx="4714875" cy="391885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9475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Nyhoff, ADTs, Data Structures and Problem Solving with C++, Second Edition, © 2005 Pearson Education, Inc. All rights reserved. 0-13-140909-3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168E0C80-ECB0-2744-8558-EE884029DCB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Nyhoff, ADTs, Data Structures and Problem Solving with C++, Second Edition, © 2005 Pearson Education, Inc. All rights reserved. 0-13-140909-3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255AA944-7449-AA44-97D3-37EEC385879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Nyhoff, ADTs, Data Structures and Problem Solving with C++, Second Edition, © 2005 Pearson Education, Inc. All rights reserved. 0-13-140909-3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5425F09F-C8C0-DD49-A689-E2A5ED425CF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267200" cy="4743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4267200" cy="4743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Nyhoff, ADTs, Data Structures and Problem Solving with C++, Second Edition, © 2005 Pearson Education, Inc. All rights reserved. 0-13-140909-3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B3DC322-6D30-754B-A248-E2BB313DD37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Nyhoff, ADTs, Data Structures and Problem Solving with C++, Second Edition, © 2005 Pearson Education, Inc. All rights reserved. 0-13-140909-3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B73AE21-7EE9-1B48-B170-1DB9A7176C9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Nyhoff, ADTs, Data Structures and Problem Solving with C++, Second Edition, © 2005 Pearson Education, Inc. All rights reserved. 0-13-140909-3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1C8EDBFD-6E48-7543-A5AD-8A7BA4F6AAC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Nyhoff, ADTs, Data Structures and Problem Solving with C++, Second Edition, © 2005 Pearson Education, Inc. All rights reserved. 0-13-140909-3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4C8F8F20-DE19-5B48-86C7-32D4BAEB794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Nyhoff, ADTs, Data Structures and Problem Solving with C++, Second Edition, © 2005 Pearson Education, Inc. All rights reserved. 0-13-140909-3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357FAB04-E406-464C-83F3-914AFAA6C8A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Nyhoff, ADTs, Data Structures and Problem Solving with C++, Second Edition, © 2005 Pearson Education, Inc. All rights reserved. 0-13-140909-3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0A133E8B-DA85-6F4D-B962-6A9B801A4EC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Nyhoff, ADTs, Data Structures and Problem Solving with C++, Second Edition, © 2005 Pearson Education, Inc. All rights reserved. 0-13-140909-3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38EAF709-0C33-464C-8538-C27BDC1D022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2300" y="274638"/>
            <a:ext cx="2171700" cy="6069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362700" cy="60690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Nyhoff, ADTs, Data Structures and Problem Solving with C++, Second Edition, © 2005 Pearson Education, Inc. All rights reserved. 0-13-140909-3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1675469F-3B25-5148-8004-550D7DF0EFD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267200" cy="4743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4267200" cy="4743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09700" y="6438900"/>
            <a:ext cx="5581650" cy="4191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Nyhoff, ADTs, Data Structures and Problem Solving with C++, Second Edition, © 2005 Pearson Education, Inc. All rights reserved. 0-13-140909-3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667500" y="6381750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fld id="{454C4404-6B49-4445-A766-BBE1AEA43F0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92A8DE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686800" cy="474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09700" y="6438900"/>
            <a:ext cx="5581650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r>
              <a:rPr lang="en-US"/>
              <a:t>Nyhoff, ADTs, Data Structures and Problem Solving with C++, Second Edition, © 2005 Pearson Education, Inc. All rights reserved. 0-13-140909-3 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6675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17D826B-A514-7E41-AD28-FDD07642920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4" charset="-128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4" charset="-128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4" charset="-128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4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4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4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70" name="Rectangle 6"/>
          <p:cNvSpPr>
            <a:spLocks noChangeArrowheads="1"/>
          </p:cNvSpPr>
          <p:nvPr/>
        </p:nvSpPr>
        <p:spPr bwMode="auto">
          <a:xfrm>
            <a:off x="3052763" y="2057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76133" name="Rectangle 1029"/>
          <p:cNvSpPr>
            <a:spLocks noChangeArrowheads="1"/>
          </p:cNvSpPr>
          <p:nvPr/>
        </p:nvSpPr>
        <p:spPr bwMode="auto">
          <a:xfrm>
            <a:off x="0" y="24050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76135" name="Rectangle 1031"/>
          <p:cNvSpPr>
            <a:spLocks noChangeArrowheads="1"/>
          </p:cNvSpPr>
          <p:nvPr/>
        </p:nvSpPr>
        <p:spPr bwMode="auto">
          <a:xfrm>
            <a:off x="0" y="2263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DA7197-2C9E-3743-BBAA-8EFD188E30A6}"/>
              </a:ext>
            </a:extLst>
          </p:cNvPr>
          <p:cNvSpPr txBox="1"/>
          <p:nvPr/>
        </p:nvSpPr>
        <p:spPr>
          <a:xfrm>
            <a:off x="3686860" y="4068644"/>
            <a:ext cx="17684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/>
                <a:cs typeface="Times New Roman"/>
              </a:rPr>
              <a:t>Chapter 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8C3C8F-F53B-3A4A-B085-E6180159103D}"/>
              </a:ext>
            </a:extLst>
          </p:cNvPr>
          <p:cNvSpPr txBox="1"/>
          <p:nvPr/>
        </p:nvSpPr>
        <p:spPr>
          <a:xfrm>
            <a:off x="3308466" y="4762197"/>
            <a:ext cx="2525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imes New Roman"/>
                <a:cs typeface="Times New Roman"/>
              </a:rPr>
              <a:t>Graphs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748FBC4-5026-95D3-7378-BC34AD9454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1640" y="489225"/>
            <a:ext cx="7798872" cy="3213156"/>
          </a:xfrm>
        </p:spPr>
        <p:txBody>
          <a:bodyPr>
            <a:normAutofit/>
          </a:bodyPr>
          <a:lstStyle/>
          <a:p>
            <a:r>
              <a:rPr lang="en-US" sz="3600" b="1" dirty="0" err="1">
                <a:latin typeface="Times New Roman"/>
                <a:cs typeface="Times New Roman"/>
              </a:rPr>
              <a:t>Misr</a:t>
            </a:r>
            <a:r>
              <a:rPr lang="en-US" sz="3600" b="1" dirty="0">
                <a:latin typeface="Times New Roman"/>
                <a:cs typeface="Times New Roman"/>
              </a:rPr>
              <a:t> International University (MIU)</a:t>
            </a:r>
            <a:br>
              <a:rPr lang="en-US" sz="2000" b="1" dirty="0">
                <a:latin typeface="Times New Roman"/>
                <a:cs typeface="Times New Roman"/>
              </a:rPr>
            </a:br>
            <a:br>
              <a:rPr lang="en-US" sz="2000" dirty="0">
                <a:latin typeface="Times New Roman"/>
                <a:cs typeface="Times New Roman"/>
              </a:rPr>
            </a:br>
            <a:r>
              <a:rPr lang="en-US" sz="3200" dirty="0">
                <a:latin typeface="Times New Roman"/>
                <a:cs typeface="Times New Roman"/>
              </a:rPr>
              <a:t>Faculty of Computer Science </a:t>
            </a:r>
            <a:br>
              <a:rPr lang="en-US" sz="2000" dirty="0">
                <a:latin typeface="Times New Roman"/>
                <a:cs typeface="Times New Roman"/>
              </a:rPr>
            </a:br>
            <a:br>
              <a:rPr lang="en-US" sz="1400" dirty="0">
                <a:latin typeface="Times New Roman"/>
                <a:cs typeface="Times New Roman"/>
              </a:rPr>
            </a:br>
            <a:r>
              <a:rPr lang="en-US" sz="3111" dirty="0">
                <a:latin typeface="Times New Roman"/>
                <a:cs typeface="Times New Roman"/>
              </a:rPr>
              <a:t>SWE 210: Data Structures and Algorithms</a:t>
            </a:r>
            <a:br>
              <a:rPr lang="en-US" sz="2800" dirty="0">
                <a:latin typeface="Times New Roman"/>
                <a:cs typeface="Times New Roman"/>
              </a:rPr>
            </a:br>
            <a:br>
              <a:rPr lang="en-US" sz="1400" dirty="0">
                <a:latin typeface="Times New Roman"/>
                <a:cs typeface="Times New Roman"/>
              </a:rPr>
            </a:br>
            <a:r>
              <a:rPr lang="en-US" sz="2800" dirty="0">
                <a:solidFill>
                  <a:srgbClr val="0070C0"/>
                </a:solidFill>
                <a:latin typeface="Times New Roman"/>
                <a:cs typeface="Times New Roman"/>
              </a:rPr>
              <a:t>Dr. Ashraf AbdelRaouf,</a:t>
            </a:r>
            <a:br>
              <a:rPr lang="en-US" sz="2800" dirty="0">
                <a:solidFill>
                  <a:srgbClr val="0070C0"/>
                </a:solidFill>
                <a:latin typeface="Times New Roman"/>
                <a:cs typeface="Times New Roman"/>
              </a:rPr>
            </a:br>
            <a:r>
              <a:rPr lang="en-US" sz="2800" dirty="0">
                <a:solidFill>
                  <a:srgbClr val="0070C0"/>
                </a:solidFill>
                <a:latin typeface="Times New Roman"/>
                <a:cs typeface="Times New Roman"/>
              </a:rPr>
              <a:t>Dr. Osama El-</a:t>
            </a:r>
            <a:r>
              <a:rPr lang="en-US" sz="2800" dirty="0" err="1">
                <a:solidFill>
                  <a:srgbClr val="0070C0"/>
                </a:solidFill>
                <a:latin typeface="Times New Roman"/>
                <a:cs typeface="Times New Roman"/>
              </a:rPr>
              <a:t>Ghonimy</a:t>
            </a:r>
            <a:r>
              <a:rPr lang="en-US" sz="2800" dirty="0">
                <a:solidFill>
                  <a:srgbClr val="0070C0"/>
                </a:solidFill>
                <a:latin typeface="Times New Roman"/>
                <a:cs typeface="Times New Roman"/>
              </a:rPr>
              <a:t>, Dr. Sarah Nabil</a:t>
            </a:r>
            <a:endParaRPr lang="en-US" altLang="en-US" sz="2800" dirty="0">
              <a:solidFill>
                <a:srgbClr val="0070C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16821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Nyhoff, ADTs, Data Structures and Problem Solving with C++, Second Edition, © 2005 Pearson Education, Inc. All rights reserved. 0-13-140909-3 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29600" y="6381750"/>
            <a:ext cx="571500" cy="476250"/>
          </a:xfrm>
        </p:spPr>
        <p:txBody>
          <a:bodyPr/>
          <a:lstStyle/>
          <a:p>
            <a:fld id="{394AF792-64ED-AA4F-A66F-08715B4E6CC3}" type="slidenum">
              <a:rPr lang="en-US"/>
              <a:pPr/>
              <a:t>2</a:t>
            </a:fld>
            <a:endParaRPr lang="en-US" dirty="0"/>
          </a:p>
        </p:txBody>
      </p:sp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1571"/>
            <a:ext cx="8229600" cy="581889"/>
          </a:xfrm>
        </p:spPr>
        <p:txBody>
          <a:bodyPr/>
          <a:lstStyle/>
          <a:p>
            <a:r>
              <a:rPr lang="en-US" dirty="0"/>
              <a:t>Lecture Contents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613460"/>
            <a:ext cx="7745413" cy="576829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Graphs: Basic Definitions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Directed Graphs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Graph representation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Searching a graph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Traversing a graphs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Depth First Search (DFS)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Breadth First Search (BFS)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Nyhoff, ADTs, Data Structures and Problem Solving with C++, Second Edition, © 2005 Pearson Education, Inc. All rights reserved. 0-13-140909-3 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35B6E-C04C-6E4A-943B-2EC0286C3474}" type="slidenum">
              <a:rPr lang="en-US"/>
              <a:pPr/>
              <a:t>3</a:t>
            </a:fld>
            <a:endParaRPr 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9443"/>
            <a:ext cx="8229600" cy="590132"/>
          </a:xfrm>
        </p:spPr>
        <p:txBody>
          <a:bodyPr/>
          <a:lstStyle/>
          <a:p>
            <a:r>
              <a:rPr lang="en-US" dirty="0"/>
              <a:t>Lecture Objectives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7992" y="821803"/>
            <a:ext cx="8488017" cy="5559947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Introduce directed graphs (digraphs) and look at some of the common implementations of them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Study some of the algorithms for searching and traversing digraphs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See how searching is basic to traversals and shortest path problems in digraphs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04405-00A7-064A-A1B0-3EC65C3FE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681" y="135582"/>
            <a:ext cx="7315200" cy="802959"/>
          </a:xfrm>
        </p:spPr>
        <p:txBody>
          <a:bodyPr>
            <a:normAutofit/>
          </a:bodyPr>
          <a:lstStyle/>
          <a:p>
            <a:r>
              <a:rPr lang="en-US" b="1" dirty="0"/>
              <a:t>Graphs: Basic Definitions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9C322-E75B-AB44-A933-3121DE5DA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95" y="1190029"/>
            <a:ext cx="5576821" cy="307049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/>
              <a:t>A non-linear data structure. 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/>
              <a:t>A collection of nodes (vertices) and edges.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/>
              <a:t>Each edge connects two vertices.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E62687-38EE-2847-952B-57AC629024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47" b="3810"/>
          <a:stretch/>
        </p:blipFill>
        <p:spPr>
          <a:xfrm>
            <a:off x="5458968" y="1190029"/>
            <a:ext cx="3471459" cy="2585738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6E86B6F-B76A-B4C9-6D8F-90414593C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29600" y="6381750"/>
            <a:ext cx="571500" cy="476250"/>
          </a:xfrm>
        </p:spPr>
        <p:txBody>
          <a:bodyPr/>
          <a:lstStyle/>
          <a:p>
            <a:fld id="{394AF792-64ED-AA4F-A66F-08715B4E6CC3}" type="slidenum">
              <a:rPr lang="en-US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671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04405-00A7-064A-A1B0-3EC65C3FE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681" y="135582"/>
            <a:ext cx="7315200" cy="802959"/>
          </a:xfrm>
        </p:spPr>
        <p:txBody>
          <a:bodyPr>
            <a:normAutofit/>
          </a:bodyPr>
          <a:lstStyle/>
          <a:p>
            <a:r>
              <a:rPr lang="en-US" b="1" dirty="0"/>
              <a:t>Graphs: Basic Definitions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EC977B9E-459C-1542-AD02-D69101A58EB4}"/>
              </a:ext>
            </a:extLst>
          </p:cNvPr>
          <p:cNvSpPr txBox="1">
            <a:spLocks noChangeArrowheads="1"/>
          </p:cNvSpPr>
          <p:nvPr/>
        </p:nvSpPr>
        <p:spPr>
          <a:xfrm>
            <a:off x="164892" y="1430204"/>
            <a:ext cx="5846164" cy="3846333"/>
          </a:xfrm>
          <a:prstGeom prst="rect">
            <a:avLst/>
          </a:prstGeom>
          <a:noFill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en-US" dirty="0"/>
              <a:t>A graph is like a road map. 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en-US" dirty="0"/>
              <a:t>Cities are vertices. 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en-US" dirty="0"/>
              <a:t>Roads from city to city are edges.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en-US" dirty="0"/>
              <a:t>Junctions may be vertices.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6E7343A-451F-F743-A4B2-58E17C246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322" y="1966955"/>
            <a:ext cx="2949786" cy="1888414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7DEC89C-2EC3-1F41-7B12-CEA348813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29600" y="6381750"/>
            <a:ext cx="571500" cy="476250"/>
          </a:xfrm>
        </p:spPr>
        <p:txBody>
          <a:bodyPr/>
          <a:lstStyle/>
          <a:p>
            <a:fld id="{394AF792-64ED-AA4F-A66F-08715B4E6CC3}" type="slidenum">
              <a:rPr lang="en-US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676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04405-00A7-064A-A1B0-3EC65C3FE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681" y="135582"/>
            <a:ext cx="7315200" cy="109328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Graphs: Basic Definitions</a:t>
            </a:r>
            <a:br>
              <a:rPr lang="en-US" b="1" dirty="0"/>
            </a:br>
            <a:r>
              <a:rPr lang="en-US" b="1" dirty="0">
                <a:solidFill>
                  <a:srgbClr val="0070C0"/>
                </a:solidFill>
              </a:rPr>
              <a:t>graph G (V, E)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C1C48A6-C1A8-0541-9C6F-FB44AA91658D}"/>
              </a:ext>
            </a:extLst>
          </p:cNvPr>
          <p:cNvSpPr txBox="1">
            <a:spLocks noChangeArrowheads="1"/>
          </p:cNvSpPr>
          <p:nvPr/>
        </p:nvSpPr>
        <p:spPr>
          <a:xfrm>
            <a:off x="287680" y="1443738"/>
            <a:ext cx="8780737" cy="4742919"/>
          </a:xfrm>
          <a:prstGeom prst="rect">
            <a:avLst/>
          </a:prstGeom>
          <a:noFill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dirty="0"/>
              <a:t>can be defined as a pair </a:t>
            </a:r>
            <a:r>
              <a:rPr lang="en-US" altLang="en-US" b="1" dirty="0">
                <a:solidFill>
                  <a:srgbClr val="0070C0"/>
                </a:solidFill>
              </a:rPr>
              <a:t>(V, E)</a:t>
            </a:r>
            <a:r>
              <a:rPr lang="en-US" altLang="en-US" dirty="0">
                <a:solidFill>
                  <a:srgbClr val="0070C0"/>
                </a:solidFill>
              </a:rPr>
              <a:t>,</a:t>
            </a:r>
          </a:p>
          <a:p>
            <a:pPr>
              <a:buFont typeface="Wingdings" pitchFamily="2" charset="2"/>
              <a:buNone/>
            </a:pPr>
            <a:r>
              <a:rPr lang="en-US" altLang="en-US" dirty="0"/>
              <a:t>where </a:t>
            </a:r>
            <a:r>
              <a:rPr lang="en-US" altLang="en-US" dirty="0">
                <a:solidFill>
                  <a:srgbClr val="0070C0"/>
                </a:solidFill>
              </a:rPr>
              <a:t>V</a:t>
            </a:r>
            <a:r>
              <a:rPr lang="en-US" altLang="en-US" dirty="0"/>
              <a:t> is a set of </a:t>
            </a:r>
            <a:r>
              <a:rPr lang="en-US" altLang="en-US" dirty="0">
                <a:solidFill>
                  <a:srgbClr val="0070C0"/>
                </a:solidFill>
              </a:rPr>
              <a:t>vertices</a:t>
            </a:r>
            <a:r>
              <a:rPr lang="en-US" altLang="en-US" dirty="0"/>
              <a:t>,</a:t>
            </a:r>
          </a:p>
          <a:p>
            <a:pPr>
              <a:buFont typeface="Wingdings" pitchFamily="2" charset="2"/>
              <a:buNone/>
            </a:pPr>
            <a:r>
              <a:rPr lang="en-US" altLang="en-US" dirty="0"/>
              <a:t>and </a:t>
            </a:r>
            <a:r>
              <a:rPr lang="en-US" altLang="en-US" dirty="0">
                <a:solidFill>
                  <a:srgbClr val="0070C0"/>
                </a:solidFill>
              </a:rPr>
              <a:t>E</a:t>
            </a:r>
            <a:r>
              <a:rPr lang="en-US" altLang="en-US" dirty="0"/>
              <a:t> is a set of </a:t>
            </a:r>
            <a:r>
              <a:rPr lang="en-US" altLang="en-US" dirty="0">
                <a:solidFill>
                  <a:srgbClr val="0070C0"/>
                </a:solidFill>
              </a:rPr>
              <a:t>edges</a:t>
            </a:r>
            <a:r>
              <a:rPr lang="en-US" altLang="en-US" dirty="0"/>
              <a:t> </a:t>
            </a:r>
          </a:p>
          <a:p>
            <a:pPr>
              <a:buFont typeface="Wingdings" pitchFamily="2" charset="2"/>
              <a:buNone/>
            </a:pPr>
            <a:r>
              <a:rPr lang="en-US" altLang="en-US" dirty="0"/>
              <a:t>between the vertices </a:t>
            </a:r>
          </a:p>
          <a:p>
            <a:pPr>
              <a:buNone/>
            </a:pPr>
            <a:endParaRPr lang="en-US" altLang="en-US" b="1" dirty="0">
              <a:solidFill>
                <a:srgbClr val="0066FF"/>
              </a:solidFill>
            </a:endParaRPr>
          </a:p>
          <a:p>
            <a:pPr>
              <a:buNone/>
            </a:pPr>
            <a:r>
              <a:rPr lang="en-US" altLang="en-US" b="1" dirty="0">
                <a:solidFill>
                  <a:srgbClr val="0066FF"/>
                </a:solidFill>
              </a:rPr>
              <a:t>E = {(u, v) | u, v </a:t>
            </a:r>
            <a:r>
              <a:rPr lang="en-US" altLang="en-US" b="1" dirty="0">
                <a:solidFill>
                  <a:srgbClr val="0066FF"/>
                </a:solidFill>
                <a:sym typeface="Symbol" pitchFamily="2" charset="2"/>
              </a:rPr>
              <a:t></a:t>
            </a:r>
            <a:r>
              <a:rPr lang="en-US" altLang="en-US" b="1" dirty="0">
                <a:solidFill>
                  <a:srgbClr val="0066FF"/>
                </a:solidFill>
              </a:rPr>
              <a:t> V}.</a:t>
            </a:r>
          </a:p>
          <a:p>
            <a:pPr>
              <a:buNone/>
            </a:pPr>
            <a:r>
              <a:rPr lang="en-US" altLang="en-US" b="1" dirty="0"/>
              <a:t>e.g.</a:t>
            </a:r>
          </a:p>
          <a:p>
            <a:pPr>
              <a:buFont typeface="Wingdings" pitchFamily="2" charset="2"/>
              <a:buNone/>
            </a:pPr>
            <a:r>
              <a:rPr lang="en-US" altLang="en-US" b="1" dirty="0">
                <a:solidFill>
                  <a:srgbClr val="0066FF"/>
                </a:solidFill>
              </a:rPr>
              <a:t>V = {A,B,C,D,E,F,G}</a:t>
            </a:r>
          </a:p>
          <a:p>
            <a:pPr>
              <a:buFont typeface="Wingdings" pitchFamily="2" charset="2"/>
              <a:buNone/>
            </a:pPr>
            <a:r>
              <a:rPr lang="en-US" altLang="en-US" b="1" dirty="0">
                <a:solidFill>
                  <a:srgbClr val="0066FF"/>
                </a:solidFill>
              </a:rPr>
              <a:t>E = {( A,B),(A,F),(B,C),(C,G),(D,E),(D,G),(E,F),(F,G)}</a:t>
            </a:r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F6CABA93-1DC7-BE4A-BC38-66929F6982C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572000" y="1843789"/>
            <a:ext cx="4280209" cy="3011999"/>
            <a:chOff x="3877" y="1478"/>
            <a:chExt cx="4050" cy="2932"/>
          </a:xfrm>
        </p:grpSpPr>
        <p:sp>
          <p:nvSpPr>
            <p:cNvPr id="8" name="AutoShape 5">
              <a:extLst>
                <a:ext uri="{FF2B5EF4-FFF2-40B4-BE49-F238E27FC236}">
                  <a16:creationId xmlns:a16="http://schemas.microsoft.com/office/drawing/2014/main" id="{5250C6AC-A90F-0D40-A812-CFAB61EC775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77" y="1478"/>
              <a:ext cx="4050" cy="2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10" name="Oval 6">
              <a:extLst>
                <a:ext uri="{FF2B5EF4-FFF2-40B4-BE49-F238E27FC236}">
                  <a16:creationId xmlns:a16="http://schemas.microsoft.com/office/drawing/2014/main" id="{8281788F-46E2-7941-A409-E204E6EAC2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7" y="1633"/>
              <a:ext cx="450" cy="463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A</a:t>
              </a:r>
            </a:p>
          </p:txBody>
        </p:sp>
        <p:sp>
          <p:nvSpPr>
            <p:cNvPr id="11" name="Oval 7">
              <a:extLst>
                <a:ext uri="{FF2B5EF4-FFF2-40B4-BE49-F238E27FC236}">
                  <a16:creationId xmlns:a16="http://schemas.microsoft.com/office/drawing/2014/main" id="{3B458771-A559-4B4A-B655-89D42535AE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7" y="1633"/>
              <a:ext cx="450" cy="462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F</a:t>
              </a:r>
            </a:p>
          </p:txBody>
        </p:sp>
        <p:sp>
          <p:nvSpPr>
            <p:cNvPr id="12" name="Oval 8">
              <a:extLst>
                <a:ext uri="{FF2B5EF4-FFF2-40B4-BE49-F238E27FC236}">
                  <a16:creationId xmlns:a16="http://schemas.microsoft.com/office/drawing/2014/main" id="{960A3EC8-96F4-0044-80C9-820C838758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7" y="2713"/>
              <a:ext cx="450" cy="463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G</a:t>
              </a:r>
            </a:p>
          </p:txBody>
        </p:sp>
        <p:sp>
          <p:nvSpPr>
            <p:cNvPr id="13" name="Oval 9">
              <a:extLst>
                <a:ext uri="{FF2B5EF4-FFF2-40B4-BE49-F238E27FC236}">
                  <a16:creationId xmlns:a16="http://schemas.microsoft.com/office/drawing/2014/main" id="{213BC12B-CFAB-3947-97B9-6B1535AB4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7" y="2713"/>
              <a:ext cx="450" cy="463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B</a:t>
              </a:r>
            </a:p>
          </p:txBody>
        </p:sp>
        <p:sp>
          <p:nvSpPr>
            <p:cNvPr id="16" name="Oval 10">
              <a:extLst>
                <a:ext uri="{FF2B5EF4-FFF2-40B4-BE49-F238E27FC236}">
                  <a16:creationId xmlns:a16="http://schemas.microsoft.com/office/drawing/2014/main" id="{A297780F-DF33-0E47-879C-8AB30BD6D1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27" y="2713"/>
              <a:ext cx="450" cy="464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E</a:t>
              </a:r>
            </a:p>
          </p:txBody>
        </p:sp>
        <p:sp>
          <p:nvSpPr>
            <p:cNvPr id="17" name="Oval 11">
              <a:extLst>
                <a:ext uri="{FF2B5EF4-FFF2-40B4-BE49-F238E27FC236}">
                  <a16:creationId xmlns:a16="http://schemas.microsoft.com/office/drawing/2014/main" id="{E153B746-3EB4-6547-80C8-050E54A33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7" y="3793"/>
              <a:ext cx="450" cy="463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D</a:t>
              </a:r>
            </a:p>
          </p:txBody>
        </p:sp>
        <p:sp>
          <p:nvSpPr>
            <p:cNvPr id="18" name="Oval 12">
              <a:extLst>
                <a:ext uri="{FF2B5EF4-FFF2-40B4-BE49-F238E27FC236}">
                  <a16:creationId xmlns:a16="http://schemas.microsoft.com/office/drawing/2014/main" id="{E7077AF5-0942-6749-AE9A-01CC63A01C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7" y="3793"/>
              <a:ext cx="450" cy="463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C</a:t>
              </a:r>
            </a:p>
          </p:txBody>
        </p:sp>
        <p:sp>
          <p:nvSpPr>
            <p:cNvPr id="19" name="Line 13">
              <a:extLst>
                <a:ext uri="{FF2B5EF4-FFF2-40B4-BE49-F238E27FC236}">
                  <a16:creationId xmlns:a16="http://schemas.microsoft.com/office/drawing/2014/main" id="{FFDC9E4E-1E5A-1844-9DCF-B806D29FB8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7" y="2096"/>
              <a:ext cx="600" cy="61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0" name="Line 14">
              <a:extLst>
                <a:ext uri="{FF2B5EF4-FFF2-40B4-BE49-F238E27FC236}">
                  <a16:creationId xmlns:a16="http://schemas.microsoft.com/office/drawing/2014/main" id="{08FD1D06-859D-9D42-ADDC-8ED7EA40B4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7" y="3176"/>
              <a:ext cx="750" cy="61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1" name="Line 15">
              <a:extLst>
                <a:ext uri="{FF2B5EF4-FFF2-40B4-BE49-F238E27FC236}">
                  <a16:creationId xmlns:a16="http://schemas.microsoft.com/office/drawing/2014/main" id="{D7EBB886-EA0A-0548-B534-48362E65C7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7" y="1941"/>
              <a:ext cx="1200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6463F2E1-4FCC-9340-BE4E-A082CDCF61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7" y="3947"/>
              <a:ext cx="105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3" name="Line 17">
              <a:extLst>
                <a:ext uri="{FF2B5EF4-FFF2-40B4-BE49-F238E27FC236}">
                  <a16:creationId xmlns:a16="http://schemas.microsoft.com/office/drawing/2014/main" id="{FB2784FE-504E-9D47-8768-5833C4A745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27" y="3176"/>
              <a:ext cx="750" cy="61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4" name="Line 18">
              <a:extLst>
                <a:ext uri="{FF2B5EF4-FFF2-40B4-BE49-F238E27FC236}">
                  <a16:creationId xmlns:a16="http://schemas.microsoft.com/office/drawing/2014/main" id="{59BC729C-D201-1148-9DD6-F12F719DDF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77" y="1941"/>
              <a:ext cx="600" cy="77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5" name="Line 19">
              <a:extLst>
                <a:ext uri="{FF2B5EF4-FFF2-40B4-BE49-F238E27FC236}">
                  <a16:creationId xmlns:a16="http://schemas.microsoft.com/office/drawing/2014/main" id="{68510FEE-2284-9640-8E8F-10614DDB88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77" y="2096"/>
              <a:ext cx="600" cy="61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6" name="Line 20">
              <a:extLst>
                <a:ext uri="{FF2B5EF4-FFF2-40B4-BE49-F238E27FC236}">
                  <a16:creationId xmlns:a16="http://schemas.microsoft.com/office/drawing/2014/main" id="{1DCF6C09-3EC0-2C4D-A84F-934B1FFBA2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27" y="3021"/>
              <a:ext cx="450" cy="77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7" name="Line 21">
              <a:extLst>
                <a:ext uri="{FF2B5EF4-FFF2-40B4-BE49-F238E27FC236}">
                  <a16:creationId xmlns:a16="http://schemas.microsoft.com/office/drawing/2014/main" id="{E7958D01-E32F-2D4A-8C99-C8849DC261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7" y="2096"/>
              <a:ext cx="750" cy="61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8" name="Line 22">
              <a:extLst>
                <a:ext uri="{FF2B5EF4-FFF2-40B4-BE49-F238E27FC236}">
                  <a16:creationId xmlns:a16="http://schemas.microsoft.com/office/drawing/2014/main" id="{F3207AE4-0385-8C41-B0AE-A1DD56372D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27" y="2867"/>
              <a:ext cx="120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9" name="Line 23">
              <a:extLst>
                <a:ext uri="{FF2B5EF4-FFF2-40B4-BE49-F238E27FC236}">
                  <a16:creationId xmlns:a16="http://schemas.microsoft.com/office/drawing/2014/main" id="{086B3C35-C43C-B44E-BF2C-E96B3FF79C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7" y="2867"/>
              <a:ext cx="120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30" name="Line 24">
              <a:extLst>
                <a:ext uri="{FF2B5EF4-FFF2-40B4-BE49-F238E27FC236}">
                  <a16:creationId xmlns:a16="http://schemas.microsoft.com/office/drawing/2014/main" id="{207F067C-EFBA-0E4C-9EA6-DCE79C38B9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77" y="3176"/>
              <a:ext cx="600" cy="61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</p:grp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A98F3C9-D983-9B35-E01A-321AD6337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29600" y="6381750"/>
            <a:ext cx="571500" cy="476250"/>
          </a:xfrm>
        </p:spPr>
        <p:txBody>
          <a:bodyPr/>
          <a:lstStyle/>
          <a:p>
            <a:fld id="{394AF792-64ED-AA4F-A66F-08715B4E6CC3}" type="slidenum">
              <a:rPr lang="en-US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249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">
            <a:extLst>
              <a:ext uri="{FF2B5EF4-FFF2-40B4-BE49-F238E27FC236}">
                <a16:creationId xmlns:a16="http://schemas.microsoft.com/office/drawing/2014/main" id="{22C9BD25-6351-714E-88A0-DE53555FD6D1}"/>
              </a:ext>
            </a:extLst>
          </p:cNvPr>
          <p:cNvSpPr txBox="1">
            <a:spLocks noChangeArrowheads="1"/>
          </p:cNvSpPr>
          <p:nvPr/>
        </p:nvSpPr>
        <p:spPr>
          <a:xfrm>
            <a:off x="292913" y="3363713"/>
            <a:ext cx="8558173" cy="3149976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en-US" altLang="en-US" sz="2400" b="1" dirty="0">
                <a:solidFill>
                  <a:srgbClr val="0066FF"/>
                </a:solidFill>
              </a:rPr>
              <a:t>V = {A,B,C,D,E,F,G}</a:t>
            </a: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en-US" altLang="en-US" sz="2400" b="1" dirty="0">
                <a:solidFill>
                  <a:srgbClr val="0066FF"/>
                </a:solidFill>
              </a:rPr>
              <a:t>E = {( A,B),(A,F),(B,C),(C,G),(D,E),(D,G),(E,F),(F,G)}</a:t>
            </a: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endParaRPr lang="en-US" altLang="en-US" sz="1200" b="1" dirty="0">
              <a:solidFill>
                <a:srgbClr val="0066FF"/>
              </a:solidFill>
            </a:endParaRPr>
          </a:p>
          <a:p>
            <a:pPr marL="14288" indent="0">
              <a:lnSpc>
                <a:spcPct val="150000"/>
              </a:lnSpc>
              <a:buFont typeface="Wingdings" pitchFamily="2" charset="2"/>
              <a:buNone/>
            </a:pPr>
            <a:r>
              <a:rPr lang="en-GB" altLang="en-US" dirty="0"/>
              <a:t>If no weights are associated with the edges, an edge is either present (“1”) or absent (“0”).</a:t>
            </a:r>
          </a:p>
        </p:txBody>
      </p:sp>
      <p:grpSp>
        <p:nvGrpSpPr>
          <p:cNvPr id="32" name="Group 4">
            <a:extLst>
              <a:ext uri="{FF2B5EF4-FFF2-40B4-BE49-F238E27FC236}">
                <a16:creationId xmlns:a16="http://schemas.microsoft.com/office/drawing/2014/main" id="{B204A230-5F11-C942-84B2-0FBEF36B487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253962" y="1262583"/>
            <a:ext cx="3633532" cy="2556930"/>
            <a:chOff x="3877" y="1478"/>
            <a:chExt cx="4050" cy="2932"/>
          </a:xfrm>
        </p:grpSpPr>
        <p:sp>
          <p:nvSpPr>
            <p:cNvPr id="33" name="AutoShape 5">
              <a:extLst>
                <a:ext uri="{FF2B5EF4-FFF2-40B4-BE49-F238E27FC236}">
                  <a16:creationId xmlns:a16="http://schemas.microsoft.com/office/drawing/2014/main" id="{E7BBCB30-80CA-C848-AC86-39D8477BAB5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77" y="1478"/>
              <a:ext cx="4050" cy="2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34" name="Oval 6">
              <a:extLst>
                <a:ext uri="{FF2B5EF4-FFF2-40B4-BE49-F238E27FC236}">
                  <a16:creationId xmlns:a16="http://schemas.microsoft.com/office/drawing/2014/main" id="{BF50B363-96AD-C946-9ED8-33CFF6048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7" y="1633"/>
              <a:ext cx="450" cy="463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A</a:t>
              </a:r>
            </a:p>
          </p:txBody>
        </p:sp>
        <p:sp>
          <p:nvSpPr>
            <p:cNvPr id="35" name="Oval 7">
              <a:extLst>
                <a:ext uri="{FF2B5EF4-FFF2-40B4-BE49-F238E27FC236}">
                  <a16:creationId xmlns:a16="http://schemas.microsoft.com/office/drawing/2014/main" id="{AABBFD20-D9D5-B043-B093-1416243007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7" y="1633"/>
              <a:ext cx="450" cy="462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F</a:t>
              </a:r>
            </a:p>
          </p:txBody>
        </p:sp>
        <p:sp>
          <p:nvSpPr>
            <p:cNvPr id="36" name="Oval 8">
              <a:extLst>
                <a:ext uri="{FF2B5EF4-FFF2-40B4-BE49-F238E27FC236}">
                  <a16:creationId xmlns:a16="http://schemas.microsoft.com/office/drawing/2014/main" id="{9829A379-1EA6-A546-B6FD-0FCB519D3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7" y="2713"/>
              <a:ext cx="450" cy="463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G</a:t>
              </a:r>
            </a:p>
          </p:txBody>
        </p:sp>
        <p:sp>
          <p:nvSpPr>
            <p:cNvPr id="37" name="Oval 9">
              <a:extLst>
                <a:ext uri="{FF2B5EF4-FFF2-40B4-BE49-F238E27FC236}">
                  <a16:creationId xmlns:a16="http://schemas.microsoft.com/office/drawing/2014/main" id="{32CC9C3B-04C6-8343-AFCF-878F47614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7" y="2713"/>
              <a:ext cx="450" cy="463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B</a:t>
              </a:r>
            </a:p>
          </p:txBody>
        </p:sp>
        <p:sp>
          <p:nvSpPr>
            <p:cNvPr id="38" name="Oval 10">
              <a:extLst>
                <a:ext uri="{FF2B5EF4-FFF2-40B4-BE49-F238E27FC236}">
                  <a16:creationId xmlns:a16="http://schemas.microsoft.com/office/drawing/2014/main" id="{F5A02A18-BA8A-2044-95EF-A1C440CA6E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27" y="2713"/>
              <a:ext cx="450" cy="464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E</a:t>
              </a:r>
            </a:p>
          </p:txBody>
        </p:sp>
        <p:sp>
          <p:nvSpPr>
            <p:cNvPr id="39" name="Oval 11">
              <a:extLst>
                <a:ext uri="{FF2B5EF4-FFF2-40B4-BE49-F238E27FC236}">
                  <a16:creationId xmlns:a16="http://schemas.microsoft.com/office/drawing/2014/main" id="{6454B495-977B-B94F-8B94-5235391EB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7" y="3793"/>
              <a:ext cx="450" cy="463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D</a:t>
              </a:r>
            </a:p>
          </p:txBody>
        </p:sp>
        <p:sp>
          <p:nvSpPr>
            <p:cNvPr id="40" name="Oval 12">
              <a:extLst>
                <a:ext uri="{FF2B5EF4-FFF2-40B4-BE49-F238E27FC236}">
                  <a16:creationId xmlns:a16="http://schemas.microsoft.com/office/drawing/2014/main" id="{B7ED2D88-E95C-F044-AD6C-921CB1B931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7" y="3793"/>
              <a:ext cx="450" cy="463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C</a:t>
              </a:r>
            </a:p>
          </p:txBody>
        </p:sp>
        <p:sp>
          <p:nvSpPr>
            <p:cNvPr id="41" name="Line 13">
              <a:extLst>
                <a:ext uri="{FF2B5EF4-FFF2-40B4-BE49-F238E27FC236}">
                  <a16:creationId xmlns:a16="http://schemas.microsoft.com/office/drawing/2014/main" id="{794B83E5-6852-5D43-9EDE-3FD99BAF01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7" y="2096"/>
              <a:ext cx="600" cy="61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42" name="Line 14">
              <a:extLst>
                <a:ext uri="{FF2B5EF4-FFF2-40B4-BE49-F238E27FC236}">
                  <a16:creationId xmlns:a16="http://schemas.microsoft.com/office/drawing/2014/main" id="{602F6399-BA56-D149-A725-6BCABE837A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7" y="3176"/>
              <a:ext cx="750" cy="61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43" name="Line 15">
              <a:extLst>
                <a:ext uri="{FF2B5EF4-FFF2-40B4-BE49-F238E27FC236}">
                  <a16:creationId xmlns:a16="http://schemas.microsoft.com/office/drawing/2014/main" id="{36B25EE4-F96F-684F-A5BD-5D89161A72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7" y="1941"/>
              <a:ext cx="1200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44" name="Line 16">
              <a:extLst>
                <a:ext uri="{FF2B5EF4-FFF2-40B4-BE49-F238E27FC236}">
                  <a16:creationId xmlns:a16="http://schemas.microsoft.com/office/drawing/2014/main" id="{ABD64C19-ED41-1B46-888A-6EF933736B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7" y="3947"/>
              <a:ext cx="105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45" name="Line 17">
              <a:extLst>
                <a:ext uri="{FF2B5EF4-FFF2-40B4-BE49-F238E27FC236}">
                  <a16:creationId xmlns:a16="http://schemas.microsoft.com/office/drawing/2014/main" id="{6470C565-C2D4-2A45-890E-CCBE333A94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27" y="3176"/>
              <a:ext cx="750" cy="61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46" name="Line 18">
              <a:extLst>
                <a:ext uri="{FF2B5EF4-FFF2-40B4-BE49-F238E27FC236}">
                  <a16:creationId xmlns:a16="http://schemas.microsoft.com/office/drawing/2014/main" id="{C2AB2C4F-DD14-8144-AFE2-02B6D3FA99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77" y="1941"/>
              <a:ext cx="600" cy="77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47" name="Line 19">
              <a:extLst>
                <a:ext uri="{FF2B5EF4-FFF2-40B4-BE49-F238E27FC236}">
                  <a16:creationId xmlns:a16="http://schemas.microsoft.com/office/drawing/2014/main" id="{DDEC0B13-A76F-F74B-985D-82363D3D13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77" y="2096"/>
              <a:ext cx="600" cy="61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48" name="Line 20">
              <a:extLst>
                <a:ext uri="{FF2B5EF4-FFF2-40B4-BE49-F238E27FC236}">
                  <a16:creationId xmlns:a16="http://schemas.microsoft.com/office/drawing/2014/main" id="{8E53B47B-A9B9-5F48-BE8D-734DC0B1A5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27" y="3021"/>
              <a:ext cx="450" cy="77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49" name="Line 21">
              <a:extLst>
                <a:ext uri="{FF2B5EF4-FFF2-40B4-BE49-F238E27FC236}">
                  <a16:creationId xmlns:a16="http://schemas.microsoft.com/office/drawing/2014/main" id="{C29A3BA2-E99D-6D4A-BFFE-99715023A9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7" y="2096"/>
              <a:ext cx="750" cy="61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0" name="Line 22">
              <a:extLst>
                <a:ext uri="{FF2B5EF4-FFF2-40B4-BE49-F238E27FC236}">
                  <a16:creationId xmlns:a16="http://schemas.microsoft.com/office/drawing/2014/main" id="{55BBE0BE-49F3-914F-B239-F84AB83803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27" y="2867"/>
              <a:ext cx="120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1" name="Line 23">
              <a:extLst>
                <a:ext uri="{FF2B5EF4-FFF2-40B4-BE49-F238E27FC236}">
                  <a16:creationId xmlns:a16="http://schemas.microsoft.com/office/drawing/2014/main" id="{BF5AAA2B-11B8-D84B-A033-792D114418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7" y="2867"/>
              <a:ext cx="120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2" name="Line 24">
              <a:extLst>
                <a:ext uri="{FF2B5EF4-FFF2-40B4-BE49-F238E27FC236}">
                  <a16:creationId xmlns:a16="http://schemas.microsoft.com/office/drawing/2014/main" id="{13F42ADD-8536-DD45-BBCB-A3AFCAE4A0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77" y="3176"/>
              <a:ext cx="600" cy="61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</p:grpSp>
      <p:sp>
        <p:nvSpPr>
          <p:cNvPr id="53" name="Title 1">
            <a:extLst>
              <a:ext uri="{FF2B5EF4-FFF2-40B4-BE49-F238E27FC236}">
                <a16:creationId xmlns:a16="http://schemas.microsoft.com/office/drawing/2014/main" id="{48CFE9F8-68D7-614D-AEA5-1A600AF07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681" y="135582"/>
            <a:ext cx="7315200" cy="109328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Graphs: Basic Definitions</a:t>
            </a:r>
            <a:br>
              <a:rPr lang="en-US" b="1" dirty="0"/>
            </a:br>
            <a:r>
              <a:rPr lang="en-US" b="1" dirty="0">
                <a:solidFill>
                  <a:srgbClr val="0070C0"/>
                </a:solidFill>
              </a:rPr>
              <a:t>Unweighted Graph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92031EC-45E3-A8BB-36AF-198319EE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29600" y="6381750"/>
            <a:ext cx="571500" cy="476250"/>
          </a:xfrm>
        </p:spPr>
        <p:txBody>
          <a:bodyPr/>
          <a:lstStyle/>
          <a:p>
            <a:fld id="{394AF792-64ED-AA4F-A66F-08715B4E6CC3}" type="slidenum">
              <a:rPr lang="en-US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399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AF80EB25-8690-8649-A939-051605227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681" y="135582"/>
            <a:ext cx="7315200" cy="109328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Graphs: Basic Definitions</a:t>
            </a:r>
            <a:br>
              <a:rPr lang="en-US" b="1" dirty="0"/>
            </a:br>
            <a:r>
              <a:rPr lang="en-US" b="1" dirty="0">
                <a:solidFill>
                  <a:srgbClr val="0070C0"/>
                </a:solidFill>
              </a:rPr>
              <a:t>Adjacency</a:t>
            </a: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A35D98A7-72B7-EE48-AF2F-B9136A4D803D}"/>
              </a:ext>
            </a:extLst>
          </p:cNvPr>
          <p:cNvSpPr txBox="1">
            <a:spLocks noChangeArrowheads="1"/>
          </p:cNvSpPr>
          <p:nvPr/>
        </p:nvSpPr>
        <p:spPr>
          <a:xfrm>
            <a:off x="235733" y="1251963"/>
            <a:ext cx="5372721" cy="2291637"/>
          </a:xfrm>
          <a:prstGeom prst="rect">
            <a:avLst/>
          </a:prstGeom>
          <a:noFill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3200" dirty="0"/>
              <a:t>If vertices u, v have</a:t>
            </a:r>
          </a:p>
          <a:p>
            <a:pPr>
              <a:buFont typeface="Wingdings" pitchFamily="2" charset="2"/>
              <a:buNone/>
            </a:pPr>
            <a:r>
              <a:rPr lang="en-US" altLang="en-US" sz="3200" dirty="0"/>
              <a:t>an edge </a:t>
            </a:r>
            <a:r>
              <a:rPr lang="en-US" altLang="en-US" sz="3200" b="1" dirty="0">
                <a:solidFill>
                  <a:srgbClr val="0070C0"/>
                </a:solidFill>
              </a:rPr>
              <a:t>e = (u, v) | u, v </a:t>
            </a:r>
            <a:r>
              <a:rPr lang="en-US" altLang="en-US" sz="3200" b="1" dirty="0">
                <a:solidFill>
                  <a:srgbClr val="0070C0"/>
                </a:solidFill>
                <a:sym typeface="Symbol" pitchFamily="2" charset="2"/>
              </a:rPr>
              <a:t></a:t>
            </a:r>
            <a:r>
              <a:rPr lang="en-US" altLang="en-US" sz="3200" b="1" dirty="0">
                <a:solidFill>
                  <a:srgbClr val="0070C0"/>
                </a:solidFill>
              </a:rPr>
              <a:t> V</a:t>
            </a:r>
            <a:endParaRPr lang="en-US" altLang="en-US" sz="3200" b="1" dirty="0">
              <a:solidFill>
                <a:srgbClr val="FF8600"/>
              </a:solidFill>
            </a:endParaRPr>
          </a:p>
          <a:p>
            <a:pPr>
              <a:buFont typeface="Wingdings" pitchFamily="2" charset="2"/>
              <a:buNone/>
            </a:pPr>
            <a:r>
              <a:rPr lang="en-US" altLang="en-US" sz="3200" dirty="0"/>
              <a:t>Then,</a:t>
            </a:r>
          </a:p>
          <a:p>
            <a:pPr>
              <a:buFont typeface="Wingdings" pitchFamily="2" charset="2"/>
              <a:buNone/>
            </a:pPr>
            <a:r>
              <a:rPr lang="en-US" altLang="en-US" sz="3200" dirty="0">
                <a:solidFill>
                  <a:srgbClr val="0070C0"/>
                </a:solidFill>
              </a:rPr>
              <a:t>u</a:t>
            </a:r>
            <a:r>
              <a:rPr lang="en-US" altLang="en-US" sz="3200" dirty="0"/>
              <a:t> and </a:t>
            </a:r>
            <a:r>
              <a:rPr lang="en-US" altLang="en-US" sz="3200" dirty="0">
                <a:solidFill>
                  <a:srgbClr val="0070C0"/>
                </a:solidFill>
              </a:rPr>
              <a:t>v</a:t>
            </a:r>
            <a:r>
              <a:rPr lang="en-US" altLang="en-US" sz="3200" dirty="0"/>
              <a:t> are adjacent.</a:t>
            </a:r>
          </a:p>
        </p:txBody>
      </p:sp>
      <p:grpSp>
        <p:nvGrpSpPr>
          <p:cNvPr id="27" name="Group 4">
            <a:extLst>
              <a:ext uri="{FF2B5EF4-FFF2-40B4-BE49-F238E27FC236}">
                <a16:creationId xmlns:a16="http://schemas.microsoft.com/office/drawing/2014/main" id="{F18DF52A-9AAA-2D4D-BEFF-48C8AC80742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498589" y="2428406"/>
            <a:ext cx="4302301" cy="3027545"/>
            <a:chOff x="3877" y="1478"/>
            <a:chExt cx="4050" cy="2932"/>
          </a:xfrm>
        </p:grpSpPr>
        <p:sp>
          <p:nvSpPr>
            <p:cNvPr id="29" name="AutoShape 5">
              <a:extLst>
                <a:ext uri="{FF2B5EF4-FFF2-40B4-BE49-F238E27FC236}">
                  <a16:creationId xmlns:a16="http://schemas.microsoft.com/office/drawing/2014/main" id="{E714851E-D3C9-7C4D-B7A9-EC3DBD5A631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77" y="1478"/>
              <a:ext cx="4050" cy="2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30" name="Oval 6">
              <a:extLst>
                <a:ext uri="{FF2B5EF4-FFF2-40B4-BE49-F238E27FC236}">
                  <a16:creationId xmlns:a16="http://schemas.microsoft.com/office/drawing/2014/main" id="{ADFE9F1E-9C21-E04A-83EC-A7BCFCFD61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7" y="1633"/>
              <a:ext cx="450" cy="463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A</a:t>
              </a:r>
            </a:p>
          </p:txBody>
        </p:sp>
        <p:sp>
          <p:nvSpPr>
            <p:cNvPr id="53" name="Oval 7">
              <a:extLst>
                <a:ext uri="{FF2B5EF4-FFF2-40B4-BE49-F238E27FC236}">
                  <a16:creationId xmlns:a16="http://schemas.microsoft.com/office/drawing/2014/main" id="{D120C2E7-8325-9646-AAA9-52D72D77E2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7" y="1633"/>
              <a:ext cx="450" cy="462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F</a:t>
              </a:r>
            </a:p>
          </p:txBody>
        </p:sp>
        <p:sp>
          <p:nvSpPr>
            <p:cNvPr id="54" name="Oval 8">
              <a:extLst>
                <a:ext uri="{FF2B5EF4-FFF2-40B4-BE49-F238E27FC236}">
                  <a16:creationId xmlns:a16="http://schemas.microsoft.com/office/drawing/2014/main" id="{8F8A5543-CB3A-FD48-B076-5BA16B7132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7" y="2713"/>
              <a:ext cx="450" cy="463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G</a:t>
              </a:r>
            </a:p>
          </p:txBody>
        </p:sp>
        <p:sp>
          <p:nvSpPr>
            <p:cNvPr id="55" name="Oval 9">
              <a:extLst>
                <a:ext uri="{FF2B5EF4-FFF2-40B4-BE49-F238E27FC236}">
                  <a16:creationId xmlns:a16="http://schemas.microsoft.com/office/drawing/2014/main" id="{0D14CBFB-8073-B045-A56A-ACA14C173E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7" y="2713"/>
              <a:ext cx="450" cy="463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B</a:t>
              </a:r>
            </a:p>
          </p:txBody>
        </p:sp>
        <p:sp>
          <p:nvSpPr>
            <p:cNvPr id="56" name="Oval 10">
              <a:extLst>
                <a:ext uri="{FF2B5EF4-FFF2-40B4-BE49-F238E27FC236}">
                  <a16:creationId xmlns:a16="http://schemas.microsoft.com/office/drawing/2014/main" id="{A7C85D9C-CD1F-7D4C-AFEA-9D2EFED73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27" y="2713"/>
              <a:ext cx="450" cy="464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E</a:t>
              </a:r>
            </a:p>
          </p:txBody>
        </p:sp>
        <p:sp>
          <p:nvSpPr>
            <p:cNvPr id="57" name="Oval 11">
              <a:extLst>
                <a:ext uri="{FF2B5EF4-FFF2-40B4-BE49-F238E27FC236}">
                  <a16:creationId xmlns:a16="http://schemas.microsoft.com/office/drawing/2014/main" id="{5F173062-D567-0541-AA6F-92F6A62BC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7" y="3793"/>
              <a:ext cx="450" cy="463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D</a:t>
              </a:r>
            </a:p>
          </p:txBody>
        </p:sp>
        <p:sp>
          <p:nvSpPr>
            <p:cNvPr id="58" name="Oval 12">
              <a:extLst>
                <a:ext uri="{FF2B5EF4-FFF2-40B4-BE49-F238E27FC236}">
                  <a16:creationId xmlns:a16="http://schemas.microsoft.com/office/drawing/2014/main" id="{33C09694-64A2-4D44-8BED-F69892E84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7" y="3793"/>
              <a:ext cx="450" cy="463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C</a:t>
              </a:r>
            </a:p>
          </p:txBody>
        </p:sp>
        <p:sp>
          <p:nvSpPr>
            <p:cNvPr id="59" name="Line 13">
              <a:extLst>
                <a:ext uri="{FF2B5EF4-FFF2-40B4-BE49-F238E27FC236}">
                  <a16:creationId xmlns:a16="http://schemas.microsoft.com/office/drawing/2014/main" id="{CE6BC2B7-6181-4E44-BC6F-10F63D3DFC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7" y="2096"/>
              <a:ext cx="600" cy="61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60" name="Line 14">
              <a:extLst>
                <a:ext uri="{FF2B5EF4-FFF2-40B4-BE49-F238E27FC236}">
                  <a16:creationId xmlns:a16="http://schemas.microsoft.com/office/drawing/2014/main" id="{3063CFE2-EF72-3A47-A1EC-248C5D7A5B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7" y="3176"/>
              <a:ext cx="750" cy="61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61" name="Line 15">
              <a:extLst>
                <a:ext uri="{FF2B5EF4-FFF2-40B4-BE49-F238E27FC236}">
                  <a16:creationId xmlns:a16="http://schemas.microsoft.com/office/drawing/2014/main" id="{B0480F73-CD6F-3F47-B6E8-1549401CF7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7" y="1941"/>
              <a:ext cx="1200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62" name="Line 16">
              <a:extLst>
                <a:ext uri="{FF2B5EF4-FFF2-40B4-BE49-F238E27FC236}">
                  <a16:creationId xmlns:a16="http://schemas.microsoft.com/office/drawing/2014/main" id="{4FCBF3B9-A073-FD4C-8C86-837FFF452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7" y="3947"/>
              <a:ext cx="105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63" name="Line 17">
              <a:extLst>
                <a:ext uri="{FF2B5EF4-FFF2-40B4-BE49-F238E27FC236}">
                  <a16:creationId xmlns:a16="http://schemas.microsoft.com/office/drawing/2014/main" id="{F241DFBC-591F-7B43-8357-7494C5078E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27" y="3176"/>
              <a:ext cx="750" cy="61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64" name="Line 18">
              <a:extLst>
                <a:ext uri="{FF2B5EF4-FFF2-40B4-BE49-F238E27FC236}">
                  <a16:creationId xmlns:a16="http://schemas.microsoft.com/office/drawing/2014/main" id="{A1FF0157-D137-A44F-9BD6-EDE1DB40BC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77" y="1941"/>
              <a:ext cx="600" cy="77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65" name="Line 19">
              <a:extLst>
                <a:ext uri="{FF2B5EF4-FFF2-40B4-BE49-F238E27FC236}">
                  <a16:creationId xmlns:a16="http://schemas.microsoft.com/office/drawing/2014/main" id="{A4B1F99B-5C1A-1E45-9C9B-DF8E1FA3E1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77" y="2096"/>
              <a:ext cx="600" cy="61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66" name="Line 20">
              <a:extLst>
                <a:ext uri="{FF2B5EF4-FFF2-40B4-BE49-F238E27FC236}">
                  <a16:creationId xmlns:a16="http://schemas.microsoft.com/office/drawing/2014/main" id="{2AF66416-43C1-F14F-9496-9A3485B84A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27" y="3021"/>
              <a:ext cx="450" cy="77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67" name="Line 21">
              <a:extLst>
                <a:ext uri="{FF2B5EF4-FFF2-40B4-BE49-F238E27FC236}">
                  <a16:creationId xmlns:a16="http://schemas.microsoft.com/office/drawing/2014/main" id="{4726477A-4897-774F-87C4-B432B8B61E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7" y="2096"/>
              <a:ext cx="750" cy="61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68" name="Line 22">
              <a:extLst>
                <a:ext uri="{FF2B5EF4-FFF2-40B4-BE49-F238E27FC236}">
                  <a16:creationId xmlns:a16="http://schemas.microsoft.com/office/drawing/2014/main" id="{3BD577B8-0C5D-A14F-8CDA-7A14AADFDD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27" y="2867"/>
              <a:ext cx="120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69" name="Line 23">
              <a:extLst>
                <a:ext uri="{FF2B5EF4-FFF2-40B4-BE49-F238E27FC236}">
                  <a16:creationId xmlns:a16="http://schemas.microsoft.com/office/drawing/2014/main" id="{A5E94CD1-6181-4942-8C24-BAA7B7F904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7" y="2867"/>
              <a:ext cx="120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0" name="Line 24">
              <a:extLst>
                <a:ext uri="{FF2B5EF4-FFF2-40B4-BE49-F238E27FC236}">
                  <a16:creationId xmlns:a16="http://schemas.microsoft.com/office/drawing/2014/main" id="{03C6D5AF-CAA7-F943-982F-22124244A8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77" y="3176"/>
              <a:ext cx="600" cy="61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</p:grpSp>
      <p:sp>
        <p:nvSpPr>
          <p:cNvPr id="71" name="Rectangle 3">
            <a:extLst>
              <a:ext uri="{FF2B5EF4-FFF2-40B4-BE49-F238E27FC236}">
                <a16:creationId xmlns:a16="http://schemas.microsoft.com/office/drawing/2014/main" id="{43BFB38F-3214-894C-80C8-DD55CE205A9A}"/>
              </a:ext>
            </a:extLst>
          </p:cNvPr>
          <p:cNvSpPr txBox="1">
            <a:spLocks noChangeArrowheads="1"/>
          </p:cNvSpPr>
          <p:nvPr/>
        </p:nvSpPr>
        <p:spPr>
          <a:xfrm>
            <a:off x="235732" y="4181739"/>
            <a:ext cx="3944167" cy="2291638"/>
          </a:xfrm>
          <a:prstGeom prst="rect">
            <a:avLst/>
          </a:prstGeom>
          <a:noFill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3600" u="sng" dirty="0">
                <a:solidFill>
                  <a:srgbClr val="0070C0"/>
                </a:solidFill>
              </a:rPr>
              <a:t>Adjacent vertices:</a:t>
            </a:r>
          </a:p>
          <a:p>
            <a:pPr>
              <a:buNone/>
            </a:pPr>
            <a:r>
              <a:rPr lang="en-US" altLang="en-US" sz="2000" dirty="0"/>
              <a:t>A and B.	G and F.</a:t>
            </a:r>
          </a:p>
          <a:p>
            <a:pPr>
              <a:buFont typeface="Wingdings" pitchFamily="2" charset="2"/>
              <a:buNone/>
            </a:pPr>
            <a:r>
              <a:rPr lang="en-US" altLang="en-US" sz="2000" dirty="0"/>
              <a:t>A and F.	G and D.</a:t>
            </a:r>
          </a:p>
          <a:p>
            <a:pPr>
              <a:buFont typeface="Wingdings" pitchFamily="2" charset="2"/>
              <a:buNone/>
            </a:pPr>
            <a:r>
              <a:rPr lang="en-US" altLang="en-US" sz="2000" dirty="0"/>
              <a:t>B and C.	F and E.</a:t>
            </a:r>
          </a:p>
          <a:p>
            <a:pPr>
              <a:buFont typeface="Wingdings" pitchFamily="2" charset="2"/>
              <a:buNone/>
            </a:pPr>
            <a:r>
              <a:rPr lang="en-US" altLang="en-US" sz="2000" dirty="0"/>
              <a:t>C and G.	D and E.</a:t>
            </a:r>
          </a:p>
          <a:p>
            <a:pPr>
              <a:buFont typeface="Wingdings" pitchFamily="2" charset="2"/>
              <a:buNone/>
            </a:pPr>
            <a:endParaRPr lang="en-US" altLang="en-US" sz="3200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DCF4785-36F8-455C-D598-EC25F1456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29600" y="6381750"/>
            <a:ext cx="571500" cy="476250"/>
          </a:xfrm>
        </p:spPr>
        <p:txBody>
          <a:bodyPr/>
          <a:lstStyle/>
          <a:p>
            <a:fld id="{394AF792-64ED-AA4F-A66F-08715B4E6CC3}" type="slidenum">
              <a:rPr lang="en-US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192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AF80EB25-8690-8649-A939-051605227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681" y="135582"/>
            <a:ext cx="7315200" cy="109328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Graphs: Basic Definitions</a:t>
            </a:r>
            <a:br>
              <a:rPr lang="en-US" b="1" dirty="0"/>
            </a:br>
            <a:r>
              <a:rPr lang="en-US" b="1" dirty="0">
                <a:solidFill>
                  <a:srgbClr val="0070C0"/>
                </a:solidFill>
              </a:rPr>
              <a:t>Undirected Graph</a:t>
            </a: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A35D98A7-72B7-EE48-AF2F-B9136A4D803D}"/>
              </a:ext>
            </a:extLst>
          </p:cNvPr>
          <p:cNvSpPr txBox="1">
            <a:spLocks noChangeArrowheads="1"/>
          </p:cNvSpPr>
          <p:nvPr/>
        </p:nvSpPr>
        <p:spPr>
          <a:xfrm>
            <a:off x="235733" y="1251964"/>
            <a:ext cx="5372721" cy="1731950"/>
          </a:xfrm>
          <a:prstGeom prst="rect">
            <a:avLst/>
          </a:prstGeom>
          <a:noFill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8738" indent="0">
              <a:buFont typeface="Wingdings" pitchFamily="2" charset="2"/>
              <a:buNone/>
            </a:pPr>
            <a:r>
              <a:rPr lang="en-US" altLang="en-US" sz="3200" dirty="0"/>
              <a:t>is a graph in which the adjacency is symmetric, i.e., </a:t>
            </a:r>
          </a:p>
          <a:p>
            <a:pPr>
              <a:buFont typeface="Wingdings" pitchFamily="2" charset="2"/>
              <a:buNone/>
            </a:pPr>
            <a:r>
              <a:rPr lang="en-US" altLang="en-US" sz="3200" b="1" dirty="0">
                <a:solidFill>
                  <a:srgbClr val="0070C0"/>
                </a:solidFill>
              </a:rPr>
              <a:t>e = (u, v) = (v, u)</a:t>
            </a:r>
            <a:endParaRPr lang="en-US" altLang="en-US" sz="2000" dirty="0">
              <a:solidFill>
                <a:srgbClr val="FF8600"/>
              </a:solidFill>
            </a:endParaRPr>
          </a:p>
          <a:p>
            <a:pPr>
              <a:buFont typeface="Wingdings" pitchFamily="2" charset="2"/>
              <a:buNone/>
            </a:pPr>
            <a:endParaRPr lang="en-US" altLang="en-US" sz="3200" dirty="0">
              <a:solidFill>
                <a:srgbClr val="FF8600"/>
              </a:solidFill>
            </a:endParaRPr>
          </a:p>
        </p:txBody>
      </p:sp>
      <p:grpSp>
        <p:nvGrpSpPr>
          <p:cNvPr id="31" name="Group 4">
            <a:extLst>
              <a:ext uri="{FF2B5EF4-FFF2-40B4-BE49-F238E27FC236}">
                <a16:creationId xmlns:a16="http://schemas.microsoft.com/office/drawing/2014/main" id="{C2420370-5880-6141-A092-3EB477B8ACA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71260" y="1953410"/>
            <a:ext cx="4636734" cy="3262887"/>
            <a:chOff x="3877" y="1478"/>
            <a:chExt cx="4050" cy="2932"/>
          </a:xfrm>
        </p:grpSpPr>
        <p:sp>
          <p:nvSpPr>
            <p:cNvPr id="32" name="AutoShape 5">
              <a:extLst>
                <a:ext uri="{FF2B5EF4-FFF2-40B4-BE49-F238E27FC236}">
                  <a16:creationId xmlns:a16="http://schemas.microsoft.com/office/drawing/2014/main" id="{C8E48670-E7D5-7346-BE55-36BDC06B154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77" y="1478"/>
              <a:ext cx="4050" cy="2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33" name="Oval 6">
              <a:extLst>
                <a:ext uri="{FF2B5EF4-FFF2-40B4-BE49-F238E27FC236}">
                  <a16:creationId xmlns:a16="http://schemas.microsoft.com/office/drawing/2014/main" id="{68D9AF11-F673-1343-865D-3669DEED2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7" y="1633"/>
              <a:ext cx="450" cy="463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A</a:t>
              </a:r>
              <a:endParaRPr lang="en-US" altLang="en-US" sz="1800" dirty="0">
                <a:solidFill>
                  <a:srgbClr val="0070C0"/>
                </a:solidFill>
              </a:endParaRPr>
            </a:p>
          </p:txBody>
        </p:sp>
        <p:sp>
          <p:nvSpPr>
            <p:cNvPr id="34" name="Oval 7">
              <a:extLst>
                <a:ext uri="{FF2B5EF4-FFF2-40B4-BE49-F238E27FC236}">
                  <a16:creationId xmlns:a16="http://schemas.microsoft.com/office/drawing/2014/main" id="{579069E2-AEBF-9E46-9A03-8BC51BAB12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7" y="1633"/>
              <a:ext cx="450" cy="462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F</a:t>
              </a:r>
              <a:endParaRPr lang="en-US" altLang="en-US" sz="1800" dirty="0">
                <a:solidFill>
                  <a:srgbClr val="0070C0"/>
                </a:solidFill>
              </a:endParaRPr>
            </a:p>
          </p:txBody>
        </p:sp>
        <p:sp>
          <p:nvSpPr>
            <p:cNvPr id="35" name="Oval 8">
              <a:extLst>
                <a:ext uri="{FF2B5EF4-FFF2-40B4-BE49-F238E27FC236}">
                  <a16:creationId xmlns:a16="http://schemas.microsoft.com/office/drawing/2014/main" id="{40003D3E-7833-274F-99A6-2AB8388F0B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7" y="2713"/>
              <a:ext cx="450" cy="463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G</a:t>
              </a:r>
              <a:endParaRPr lang="en-US" altLang="en-US" sz="1800" dirty="0">
                <a:solidFill>
                  <a:srgbClr val="0070C0"/>
                </a:solidFill>
              </a:endParaRPr>
            </a:p>
          </p:txBody>
        </p:sp>
        <p:sp>
          <p:nvSpPr>
            <p:cNvPr id="36" name="Oval 9">
              <a:extLst>
                <a:ext uri="{FF2B5EF4-FFF2-40B4-BE49-F238E27FC236}">
                  <a16:creationId xmlns:a16="http://schemas.microsoft.com/office/drawing/2014/main" id="{AEE1C93D-EBB4-8445-9114-673FBBC10C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7" y="2713"/>
              <a:ext cx="450" cy="463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B</a:t>
              </a:r>
              <a:endParaRPr lang="en-US" altLang="en-US" sz="1800" dirty="0">
                <a:solidFill>
                  <a:srgbClr val="0070C0"/>
                </a:solidFill>
              </a:endParaRPr>
            </a:p>
          </p:txBody>
        </p:sp>
        <p:sp>
          <p:nvSpPr>
            <p:cNvPr id="37" name="Oval 10">
              <a:extLst>
                <a:ext uri="{FF2B5EF4-FFF2-40B4-BE49-F238E27FC236}">
                  <a16:creationId xmlns:a16="http://schemas.microsoft.com/office/drawing/2014/main" id="{78D1F4F4-EDD3-254B-9373-7F204FCD67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27" y="2713"/>
              <a:ext cx="450" cy="464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E</a:t>
              </a:r>
            </a:p>
          </p:txBody>
        </p:sp>
        <p:sp>
          <p:nvSpPr>
            <p:cNvPr id="38" name="Oval 11">
              <a:extLst>
                <a:ext uri="{FF2B5EF4-FFF2-40B4-BE49-F238E27FC236}">
                  <a16:creationId xmlns:a16="http://schemas.microsoft.com/office/drawing/2014/main" id="{1A561B82-D862-5A47-ACB0-7A539DA888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7" y="3793"/>
              <a:ext cx="450" cy="463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D</a:t>
              </a:r>
            </a:p>
          </p:txBody>
        </p:sp>
        <p:sp>
          <p:nvSpPr>
            <p:cNvPr id="39" name="Oval 12">
              <a:extLst>
                <a:ext uri="{FF2B5EF4-FFF2-40B4-BE49-F238E27FC236}">
                  <a16:creationId xmlns:a16="http://schemas.microsoft.com/office/drawing/2014/main" id="{159185CA-5458-CC43-89AA-D91A7D490A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7" y="3793"/>
              <a:ext cx="450" cy="463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C</a:t>
              </a:r>
            </a:p>
          </p:txBody>
        </p:sp>
        <p:sp>
          <p:nvSpPr>
            <p:cNvPr id="40" name="Line 13">
              <a:extLst>
                <a:ext uri="{FF2B5EF4-FFF2-40B4-BE49-F238E27FC236}">
                  <a16:creationId xmlns:a16="http://schemas.microsoft.com/office/drawing/2014/main" id="{1D2D0662-D783-8343-8F9E-15730FD631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7" y="2096"/>
              <a:ext cx="600" cy="61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41" name="Line 14">
              <a:extLst>
                <a:ext uri="{FF2B5EF4-FFF2-40B4-BE49-F238E27FC236}">
                  <a16:creationId xmlns:a16="http://schemas.microsoft.com/office/drawing/2014/main" id="{52C0DE7D-CFAE-8744-ACC2-9FCC9CB778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7" y="3176"/>
              <a:ext cx="750" cy="61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42" name="Line 15">
              <a:extLst>
                <a:ext uri="{FF2B5EF4-FFF2-40B4-BE49-F238E27FC236}">
                  <a16:creationId xmlns:a16="http://schemas.microsoft.com/office/drawing/2014/main" id="{EF01E358-8C3F-8D42-A10B-61F128BFF1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7" y="1941"/>
              <a:ext cx="1200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43" name="Line 16">
              <a:extLst>
                <a:ext uri="{FF2B5EF4-FFF2-40B4-BE49-F238E27FC236}">
                  <a16:creationId xmlns:a16="http://schemas.microsoft.com/office/drawing/2014/main" id="{73C6463B-C77F-4C43-9159-647DBC13C8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7" y="3947"/>
              <a:ext cx="105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44" name="Line 17">
              <a:extLst>
                <a:ext uri="{FF2B5EF4-FFF2-40B4-BE49-F238E27FC236}">
                  <a16:creationId xmlns:a16="http://schemas.microsoft.com/office/drawing/2014/main" id="{309DDFD2-57FB-5E4E-8050-A64D5CE6C9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27" y="3176"/>
              <a:ext cx="750" cy="61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45" name="Line 18">
              <a:extLst>
                <a:ext uri="{FF2B5EF4-FFF2-40B4-BE49-F238E27FC236}">
                  <a16:creationId xmlns:a16="http://schemas.microsoft.com/office/drawing/2014/main" id="{56287DBC-6DB1-4A49-8063-59FFB31F43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77" y="1941"/>
              <a:ext cx="600" cy="77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46" name="Line 19">
              <a:extLst>
                <a:ext uri="{FF2B5EF4-FFF2-40B4-BE49-F238E27FC236}">
                  <a16:creationId xmlns:a16="http://schemas.microsoft.com/office/drawing/2014/main" id="{0DA8BD85-2B9D-ED48-BC3C-09F5927331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77" y="2096"/>
              <a:ext cx="600" cy="61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47" name="Line 20">
              <a:extLst>
                <a:ext uri="{FF2B5EF4-FFF2-40B4-BE49-F238E27FC236}">
                  <a16:creationId xmlns:a16="http://schemas.microsoft.com/office/drawing/2014/main" id="{37DC5BA1-41B8-0648-B78D-3AD7582E6A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27" y="3021"/>
              <a:ext cx="450" cy="77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48" name="Line 21">
              <a:extLst>
                <a:ext uri="{FF2B5EF4-FFF2-40B4-BE49-F238E27FC236}">
                  <a16:creationId xmlns:a16="http://schemas.microsoft.com/office/drawing/2014/main" id="{7B8ABCB5-878D-9E48-B4DC-171777233A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7" y="2096"/>
              <a:ext cx="750" cy="61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49" name="Line 22">
              <a:extLst>
                <a:ext uri="{FF2B5EF4-FFF2-40B4-BE49-F238E27FC236}">
                  <a16:creationId xmlns:a16="http://schemas.microsoft.com/office/drawing/2014/main" id="{FD2A9BDB-BBD9-DE49-942B-581305E74B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27" y="2867"/>
              <a:ext cx="120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0" name="Line 23">
              <a:extLst>
                <a:ext uri="{FF2B5EF4-FFF2-40B4-BE49-F238E27FC236}">
                  <a16:creationId xmlns:a16="http://schemas.microsoft.com/office/drawing/2014/main" id="{5FCA6AEB-011B-404D-9C23-D358116BB1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7" y="2867"/>
              <a:ext cx="120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1" name="Line 24">
              <a:extLst>
                <a:ext uri="{FF2B5EF4-FFF2-40B4-BE49-F238E27FC236}">
                  <a16:creationId xmlns:a16="http://schemas.microsoft.com/office/drawing/2014/main" id="{32FCA4C9-6DB3-4F4B-941D-342E6C664F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77" y="3176"/>
              <a:ext cx="600" cy="61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</p:grpSp>
      <p:sp>
        <p:nvSpPr>
          <p:cNvPr id="52" name="Rectangle 3">
            <a:extLst>
              <a:ext uri="{FF2B5EF4-FFF2-40B4-BE49-F238E27FC236}">
                <a16:creationId xmlns:a16="http://schemas.microsoft.com/office/drawing/2014/main" id="{AF6CE934-5E25-974C-8E7A-B442E23EB32E}"/>
              </a:ext>
            </a:extLst>
          </p:cNvPr>
          <p:cNvSpPr txBox="1">
            <a:spLocks noChangeArrowheads="1"/>
          </p:cNvSpPr>
          <p:nvPr/>
        </p:nvSpPr>
        <p:spPr>
          <a:xfrm>
            <a:off x="161990" y="3670542"/>
            <a:ext cx="4796194" cy="2708607"/>
          </a:xfrm>
          <a:prstGeom prst="rect">
            <a:avLst/>
          </a:prstGeom>
          <a:noFill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3600" u="sng" dirty="0">
                <a:solidFill>
                  <a:srgbClr val="0070C0"/>
                </a:solidFill>
              </a:rPr>
              <a:t>Adjacency:</a:t>
            </a:r>
          </a:p>
          <a:p>
            <a:pPr>
              <a:buNone/>
            </a:pPr>
            <a:r>
              <a:rPr lang="en-US" altLang="en-US" sz="2000" dirty="0"/>
              <a:t>(A, B) = (B, A).		(G, F) = (F, G).</a:t>
            </a:r>
          </a:p>
          <a:p>
            <a:pPr>
              <a:buNone/>
            </a:pPr>
            <a:r>
              <a:rPr lang="en-US" altLang="en-US" sz="2000" dirty="0"/>
              <a:t>(A, F) = (F, A).		(G, D) = (D, G).</a:t>
            </a:r>
          </a:p>
          <a:p>
            <a:pPr>
              <a:buNone/>
            </a:pPr>
            <a:r>
              <a:rPr lang="en-US" altLang="en-US" sz="2000" dirty="0"/>
              <a:t>(B, C) = (C, B).  		(E, F) = (F, E).</a:t>
            </a:r>
          </a:p>
          <a:p>
            <a:pPr>
              <a:buNone/>
            </a:pPr>
            <a:r>
              <a:rPr lang="en-US" altLang="en-US" sz="2000" dirty="0"/>
              <a:t>(C, G) = (G, C).		(D, E) = (E, D).</a:t>
            </a:r>
          </a:p>
          <a:p>
            <a:pPr>
              <a:buNone/>
            </a:pPr>
            <a:endParaRPr lang="en-US" altLang="en-US" sz="2000" dirty="0"/>
          </a:p>
          <a:p>
            <a:pPr>
              <a:buFont typeface="Wingdings" pitchFamily="2" charset="2"/>
              <a:buNone/>
            </a:pPr>
            <a:endParaRPr lang="en-US" altLang="en-US" sz="3200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6D70785-6F61-9AD4-4FD9-E017BBD07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29600" y="6381750"/>
            <a:ext cx="571500" cy="476250"/>
          </a:xfrm>
        </p:spPr>
        <p:txBody>
          <a:bodyPr/>
          <a:lstStyle/>
          <a:p>
            <a:fld id="{394AF792-64ED-AA4F-A66F-08715B4E6CC3}" type="slidenum">
              <a:rPr lang="en-US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373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AF80EB25-8690-8649-A939-051605227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681" y="135582"/>
            <a:ext cx="7315200" cy="109328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Graphs: Basic Definitions</a:t>
            </a:r>
            <a:br>
              <a:rPr lang="en-US" b="1" dirty="0"/>
            </a:br>
            <a:r>
              <a:rPr lang="en-US" b="1" dirty="0">
                <a:solidFill>
                  <a:srgbClr val="0070C0"/>
                </a:solidFill>
              </a:rPr>
              <a:t>Degree Of a vertex</a:t>
            </a: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A35D98A7-72B7-EE48-AF2F-B9136A4D803D}"/>
              </a:ext>
            </a:extLst>
          </p:cNvPr>
          <p:cNvSpPr txBox="1">
            <a:spLocks noChangeArrowheads="1"/>
          </p:cNvSpPr>
          <p:nvPr/>
        </p:nvSpPr>
        <p:spPr>
          <a:xfrm>
            <a:off x="235733" y="1386874"/>
            <a:ext cx="8500530" cy="664645"/>
          </a:xfrm>
          <a:prstGeom prst="rect">
            <a:avLst/>
          </a:prstGeom>
          <a:noFill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8738" indent="0">
              <a:buFont typeface="Wingdings" pitchFamily="2" charset="2"/>
              <a:buNone/>
            </a:pPr>
            <a:r>
              <a:rPr lang="en-US" altLang="en-US" sz="3200" dirty="0">
                <a:solidFill>
                  <a:srgbClr val="0070C0"/>
                </a:solidFill>
              </a:rPr>
              <a:t>the number of edges connected to it.</a:t>
            </a:r>
          </a:p>
        </p:txBody>
      </p:sp>
      <p:grpSp>
        <p:nvGrpSpPr>
          <p:cNvPr id="31" name="Group 4">
            <a:extLst>
              <a:ext uri="{FF2B5EF4-FFF2-40B4-BE49-F238E27FC236}">
                <a16:creationId xmlns:a16="http://schemas.microsoft.com/office/drawing/2014/main" id="{C2420370-5880-6141-A092-3EB477B8ACA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71260" y="1953410"/>
            <a:ext cx="4636734" cy="3262887"/>
            <a:chOff x="3877" y="1478"/>
            <a:chExt cx="4050" cy="2932"/>
          </a:xfrm>
        </p:grpSpPr>
        <p:sp>
          <p:nvSpPr>
            <p:cNvPr id="32" name="AutoShape 5">
              <a:extLst>
                <a:ext uri="{FF2B5EF4-FFF2-40B4-BE49-F238E27FC236}">
                  <a16:creationId xmlns:a16="http://schemas.microsoft.com/office/drawing/2014/main" id="{C8E48670-E7D5-7346-BE55-36BDC06B154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77" y="1478"/>
              <a:ext cx="4050" cy="2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33" name="Oval 6">
              <a:extLst>
                <a:ext uri="{FF2B5EF4-FFF2-40B4-BE49-F238E27FC236}">
                  <a16:creationId xmlns:a16="http://schemas.microsoft.com/office/drawing/2014/main" id="{68D9AF11-F673-1343-865D-3669DEED2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7" y="1633"/>
              <a:ext cx="450" cy="463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A</a:t>
              </a:r>
              <a:endParaRPr lang="en-US" altLang="en-US" sz="1800" dirty="0">
                <a:solidFill>
                  <a:srgbClr val="0070C0"/>
                </a:solidFill>
              </a:endParaRPr>
            </a:p>
          </p:txBody>
        </p:sp>
        <p:sp>
          <p:nvSpPr>
            <p:cNvPr id="34" name="Oval 7">
              <a:extLst>
                <a:ext uri="{FF2B5EF4-FFF2-40B4-BE49-F238E27FC236}">
                  <a16:creationId xmlns:a16="http://schemas.microsoft.com/office/drawing/2014/main" id="{579069E2-AEBF-9E46-9A03-8BC51BAB12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7" y="1633"/>
              <a:ext cx="450" cy="462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F</a:t>
              </a:r>
              <a:endParaRPr lang="en-US" altLang="en-US" sz="1800" dirty="0">
                <a:solidFill>
                  <a:srgbClr val="0070C0"/>
                </a:solidFill>
              </a:endParaRPr>
            </a:p>
          </p:txBody>
        </p:sp>
        <p:sp>
          <p:nvSpPr>
            <p:cNvPr id="35" name="Oval 8">
              <a:extLst>
                <a:ext uri="{FF2B5EF4-FFF2-40B4-BE49-F238E27FC236}">
                  <a16:creationId xmlns:a16="http://schemas.microsoft.com/office/drawing/2014/main" id="{40003D3E-7833-274F-99A6-2AB8388F0B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7" y="2713"/>
              <a:ext cx="450" cy="463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G</a:t>
              </a:r>
              <a:endParaRPr lang="en-US" altLang="en-US" sz="1800" dirty="0">
                <a:solidFill>
                  <a:srgbClr val="0070C0"/>
                </a:solidFill>
              </a:endParaRPr>
            </a:p>
          </p:txBody>
        </p:sp>
        <p:sp>
          <p:nvSpPr>
            <p:cNvPr id="36" name="Oval 9">
              <a:extLst>
                <a:ext uri="{FF2B5EF4-FFF2-40B4-BE49-F238E27FC236}">
                  <a16:creationId xmlns:a16="http://schemas.microsoft.com/office/drawing/2014/main" id="{AEE1C93D-EBB4-8445-9114-673FBBC10C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7" y="2713"/>
              <a:ext cx="450" cy="463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B</a:t>
              </a:r>
              <a:endParaRPr lang="en-US" altLang="en-US" sz="1800" dirty="0">
                <a:solidFill>
                  <a:srgbClr val="0070C0"/>
                </a:solidFill>
              </a:endParaRPr>
            </a:p>
          </p:txBody>
        </p:sp>
        <p:sp>
          <p:nvSpPr>
            <p:cNvPr id="37" name="Oval 10">
              <a:extLst>
                <a:ext uri="{FF2B5EF4-FFF2-40B4-BE49-F238E27FC236}">
                  <a16:creationId xmlns:a16="http://schemas.microsoft.com/office/drawing/2014/main" id="{78D1F4F4-EDD3-254B-9373-7F204FCD67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27" y="2713"/>
              <a:ext cx="450" cy="464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E</a:t>
              </a:r>
            </a:p>
          </p:txBody>
        </p:sp>
        <p:sp>
          <p:nvSpPr>
            <p:cNvPr id="38" name="Oval 11">
              <a:extLst>
                <a:ext uri="{FF2B5EF4-FFF2-40B4-BE49-F238E27FC236}">
                  <a16:creationId xmlns:a16="http://schemas.microsoft.com/office/drawing/2014/main" id="{1A561B82-D862-5A47-ACB0-7A539DA888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7" y="3793"/>
              <a:ext cx="450" cy="463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D</a:t>
              </a:r>
            </a:p>
          </p:txBody>
        </p:sp>
        <p:sp>
          <p:nvSpPr>
            <p:cNvPr id="39" name="Oval 12">
              <a:extLst>
                <a:ext uri="{FF2B5EF4-FFF2-40B4-BE49-F238E27FC236}">
                  <a16:creationId xmlns:a16="http://schemas.microsoft.com/office/drawing/2014/main" id="{159185CA-5458-CC43-89AA-D91A7D490A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7" y="3793"/>
              <a:ext cx="450" cy="463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C</a:t>
              </a:r>
            </a:p>
          </p:txBody>
        </p:sp>
        <p:sp>
          <p:nvSpPr>
            <p:cNvPr id="40" name="Line 13">
              <a:extLst>
                <a:ext uri="{FF2B5EF4-FFF2-40B4-BE49-F238E27FC236}">
                  <a16:creationId xmlns:a16="http://schemas.microsoft.com/office/drawing/2014/main" id="{1D2D0662-D783-8343-8F9E-15730FD631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7" y="2096"/>
              <a:ext cx="600" cy="61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41" name="Line 14">
              <a:extLst>
                <a:ext uri="{FF2B5EF4-FFF2-40B4-BE49-F238E27FC236}">
                  <a16:creationId xmlns:a16="http://schemas.microsoft.com/office/drawing/2014/main" id="{52C0DE7D-CFAE-8744-ACC2-9FCC9CB778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7" y="3176"/>
              <a:ext cx="750" cy="61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42" name="Line 15">
              <a:extLst>
                <a:ext uri="{FF2B5EF4-FFF2-40B4-BE49-F238E27FC236}">
                  <a16:creationId xmlns:a16="http://schemas.microsoft.com/office/drawing/2014/main" id="{EF01E358-8C3F-8D42-A10B-61F128BFF1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7" y="1941"/>
              <a:ext cx="1200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43" name="Line 16">
              <a:extLst>
                <a:ext uri="{FF2B5EF4-FFF2-40B4-BE49-F238E27FC236}">
                  <a16:creationId xmlns:a16="http://schemas.microsoft.com/office/drawing/2014/main" id="{73C6463B-C77F-4C43-9159-647DBC13C8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7" y="3947"/>
              <a:ext cx="105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44" name="Line 17">
              <a:extLst>
                <a:ext uri="{FF2B5EF4-FFF2-40B4-BE49-F238E27FC236}">
                  <a16:creationId xmlns:a16="http://schemas.microsoft.com/office/drawing/2014/main" id="{309DDFD2-57FB-5E4E-8050-A64D5CE6C9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27" y="3176"/>
              <a:ext cx="750" cy="61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45" name="Line 18">
              <a:extLst>
                <a:ext uri="{FF2B5EF4-FFF2-40B4-BE49-F238E27FC236}">
                  <a16:creationId xmlns:a16="http://schemas.microsoft.com/office/drawing/2014/main" id="{56287DBC-6DB1-4A49-8063-59FFB31F43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77" y="1941"/>
              <a:ext cx="600" cy="77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46" name="Line 19">
              <a:extLst>
                <a:ext uri="{FF2B5EF4-FFF2-40B4-BE49-F238E27FC236}">
                  <a16:creationId xmlns:a16="http://schemas.microsoft.com/office/drawing/2014/main" id="{0DA8BD85-2B9D-ED48-BC3C-09F5927331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77" y="2096"/>
              <a:ext cx="600" cy="61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47" name="Line 20">
              <a:extLst>
                <a:ext uri="{FF2B5EF4-FFF2-40B4-BE49-F238E27FC236}">
                  <a16:creationId xmlns:a16="http://schemas.microsoft.com/office/drawing/2014/main" id="{37DC5BA1-41B8-0648-B78D-3AD7582E6A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27" y="3021"/>
              <a:ext cx="450" cy="77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48" name="Line 21">
              <a:extLst>
                <a:ext uri="{FF2B5EF4-FFF2-40B4-BE49-F238E27FC236}">
                  <a16:creationId xmlns:a16="http://schemas.microsoft.com/office/drawing/2014/main" id="{7B8ABCB5-878D-9E48-B4DC-171777233A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7" y="2096"/>
              <a:ext cx="750" cy="61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49" name="Line 22">
              <a:extLst>
                <a:ext uri="{FF2B5EF4-FFF2-40B4-BE49-F238E27FC236}">
                  <a16:creationId xmlns:a16="http://schemas.microsoft.com/office/drawing/2014/main" id="{FD2A9BDB-BBD9-DE49-942B-581305E74B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27" y="2867"/>
              <a:ext cx="120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0" name="Line 23">
              <a:extLst>
                <a:ext uri="{FF2B5EF4-FFF2-40B4-BE49-F238E27FC236}">
                  <a16:creationId xmlns:a16="http://schemas.microsoft.com/office/drawing/2014/main" id="{5FCA6AEB-011B-404D-9C23-D358116BB1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7" y="2867"/>
              <a:ext cx="120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1" name="Line 24">
              <a:extLst>
                <a:ext uri="{FF2B5EF4-FFF2-40B4-BE49-F238E27FC236}">
                  <a16:creationId xmlns:a16="http://schemas.microsoft.com/office/drawing/2014/main" id="{32FCA4C9-6DB3-4F4B-941D-342E6C664F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77" y="3176"/>
              <a:ext cx="600" cy="61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</p:grp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EBD73EDB-51E9-E84D-8A01-333B09151688}"/>
              </a:ext>
            </a:extLst>
          </p:cNvPr>
          <p:cNvGraphicFramePr>
            <a:graphicFrameLocks noGrp="1"/>
          </p:cNvGraphicFramePr>
          <p:nvPr/>
        </p:nvGraphicFramePr>
        <p:xfrm>
          <a:off x="650294" y="2399467"/>
          <a:ext cx="2418850" cy="3262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9425">
                  <a:extLst>
                    <a:ext uri="{9D8B030D-6E8A-4147-A177-3AD203B41FA5}">
                      <a16:colId xmlns:a16="http://schemas.microsoft.com/office/drawing/2014/main" val="1065719800"/>
                    </a:ext>
                  </a:extLst>
                </a:gridCol>
                <a:gridCol w="1209425">
                  <a:extLst>
                    <a:ext uri="{9D8B030D-6E8A-4147-A177-3AD203B41FA5}">
                      <a16:colId xmlns:a16="http://schemas.microsoft.com/office/drawing/2014/main" val="249264872"/>
                    </a:ext>
                  </a:extLst>
                </a:gridCol>
              </a:tblGrid>
              <a:tr h="65459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Vertex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Degree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148185079"/>
                  </a:ext>
                </a:extLst>
              </a:tr>
              <a:tr h="3726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79420495"/>
                  </a:ext>
                </a:extLst>
              </a:tr>
              <a:tr h="3726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5612430"/>
                  </a:ext>
                </a:extLst>
              </a:tr>
              <a:tr h="3726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527427439"/>
                  </a:ext>
                </a:extLst>
              </a:tr>
              <a:tr h="3726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94166536"/>
                  </a:ext>
                </a:extLst>
              </a:tr>
              <a:tr h="3726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69263361"/>
                  </a:ext>
                </a:extLst>
              </a:tr>
              <a:tr h="3726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276531265"/>
                  </a:ext>
                </a:extLst>
              </a:tr>
              <a:tr h="3726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G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32465553"/>
                  </a:ext>
                </a:extLst>
              </a:tr>
            </a:tbl>
          </a:graphicData>
        </a:graphic>
      </p:graphicFrame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C98FABA-BBF3-F6AE-32B8-6C0EB2A66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29600" y="6381750"/>
            <a:ext cx="571500" cy="476250"/>
          </a:xfrm>
        </p:spPr>
        <p:txBody>
          <a:bodyPr/>
          <a:lstStyle/>
          <a:p>
            <a:fld id="{394AF792-64ED-AA4F-A66F-08715B4E6CC3}" type="slidenum">
              <a:rPr lang="en-US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506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Nyhoff, ADTs, Data Structures and Problem Solving with C++, Second Edition, © 2005 Pearson Education, Inc. All rights reserved. 0-13-140909-3 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F2F0B-15B4-A841-8B09-4F2C6B2DAC68}" type="slidenum">
              <a:rPr lang="en-US"/>
              <a:pPr/>
              <a:t>11</a:t>
            </a:fld>
            <a:endParaRPr lang="en-US"/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556544"/>
            <a:ext cx="6179389" cy="131022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Out-degree</a:t>
            </a:r>
            <a:r>
              <a:rPr lang="en-US" dirty="0"/>
              <a:t> of vertex:</a:t>
            </a:r>
          </a:p>
          <a:p>
            <a:pPr lvl="1">
              <a:buFont typeface="Wingdings" pitchFamily="2" charset="2"/>
              <a:buChar char="v"/>
            </a:pPr>
            <a:r>
              <a:rPr lang="en-US" dirty="0"/>
              <a:t>Number of edges get out of it.</a:t>
            </a:r>
          </a:p>
        </p:txBody>
      </p:sp>
      <p:pic>
        <p:nvPicPr>
          <p:cNvPr id="6" name="Picture 91">
            <a:extLst>
              <a:ext uri="{FF2B5EF4-FFF2-40B4-BE49-F238E27FC236}">
                <a16:creationId xmlns:a16="http://schemas.microsoft.com/office/drawing/2014/main" id="{5111BB31-055F-CE41-A5D1-C34DBBE0B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07989" y="1314559"/>
            <a:ext cx="2652621" cy="2519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7E390CA-D847-0D36-F20E-A36366F14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5582"/>
            <a:ext cx="9143999" cy="109328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Graphs: Basic Definitions</a:t>
            </a:r>
            <a:br>
              <a:rPr lang="en-US" b="1" dirty="0"/>
            </a:br>
            <a:r>
              <a:rPr lang="en-US" sz="4000" b="1" dirty="0">
                <a:solidFill>
                  <a:srgbClr val="0070C0"/>
                </a:solidFill>
              </a:rPr>
              <a:t>Degree Of a Weighted directed Graph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FB428D1-D4FC-4973-53E4-BB32F3CBA3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599" y="2737449"/>
            <a:ext cx="6179389" cy="131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ＭＳ Ｐゴシック" pitchFamily="4" charset="-128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4" charset="-128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pitchFamily="4" charset="-128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4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4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4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4" charset="-128"/>
              </a:defRPr>
            </a:lvl9pPr>
          </a:lstStyle>
          <a:p>
            <a:pPr marL="0" indent="0">
              <a:buNone/>
            </a:pPr>
            <a:r>
              <a:rPr lang="en-US" kern="0" dirty="0">
                <a:solidFill>
                  <a:srgbClr val="FF0000"/>
                </a:solidFill>
              </a:rPr>
              <a:t>In-degree</a:t>
            </a:r>
            <a:r>
              <a:rPr lang="en-US" kern="0" dirty="0"/>
              <a:t> of vertex:</a:t>
            </a:r>
          </a:p>
          <a:p>
            <a:pPr lvl="1">
              <a:buFont typeface="Wingdings" pitchFamily="2" charset="2"/>
              <a:buChar char="v"/>
            </a:pPr>
            <a:r>
              <a:rPr lang="en-US" dirty="0"/>
              <a:t>Number of edges get into it.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730CF86-4658-49E2-E912-8EDE16EF78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714399"/>
              </p:ext>
            </p:extLst>
          </p:nvPr>
        </p:nvGraphicFramePr>
        <p:xfrm>
          <a:off x="2991100" y="3921238"/>
          <a:ext cx="2418849" cy="2517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283">
                  <a:extLst>
                    <a:ext uri="{9D8B030D-6E8A-4147-A177-3AD203B41FA5}">
                      <a16:colId xmlns:a16="http://schemas.microsoft.com/office/drawing/2014/main" val="1065719800"/>
                    </a:ext>
                  </a:extLst>
                </a:gridCol>
                <a:gridCol w="806283">
                  <a:extLst>
                    <a:ext uri="{9D8B030D-6E8A-4147-A177-3AD203B41FA5}">
                      <a16:colId xmlns:a16="http://schemas.microsoft.com/office/drawing/2014/main" val="249264872"/>
                    </a:ext>
                  </a:extLst>
                </a:gridCol>
                <a:gridCol w="806283">
                  <a:extLst>
                    <a:ext uri="{9D8B030D-6E8A-4147-A177-3AD203B41FA5}">
                      <a16:colId xmlns:a16="http://schemas.microsoft.com/office/drawing/2014/main" val="1438597589"/>
                    </a:ext>
                  </a:extLst>
                </a:gridCol>
              </a:tblGrid>
              <a:tr h="65459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Vertex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Out-Degree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In-Degree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148185079"/>
                  </a:ext>
                </a:extLst>
              </a:tr>
              <a:tr h="3726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79420495"/>
                  </a:ext>
                </a:extLst>
              </a:tr>
              <a:tr h="3726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5612430"/>
                  </a:ext>
                </a:extLst>
              </a:tr>
              <a:tr h="3726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527427439"/>
                  </a:ext>
                </a:extLst>
              </a:tr>
              <a:tr h="3726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94166536"/>
                  </a:ext>
                </a:extLst>
              </a:tr>
              <a:tr h="3726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692633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6447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AF80EB25-8690-8649-A939-051605227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681" y="135582"/>
            <a:ext cx="7315200" cy="109328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Graphs: Basic Definitions</a:t>
            </a:r>
            <a:br>
              <a:rPr lang="en-US" b="1" dirty="0"/>
            </a:br>
            <a:r>
              <a:rPr lang="en-US" b="1" dirty="0">
                <a:solidFill>
                  <a:srgbClr val="0070C0"/>
                </a:solidFill>
              </a:rPr>
              <a:t>A weighted graph</a:t>
            </a: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A35D98A7-72B7-EE48-AF2F-B9136A4D803D}"/>
              </a:ext>
            </a:extLst>
          </p:cNvPr>
          <p:cNvSpPr txBox="1">
            <a:spLocks noChangeArrowheads="1"/>
          </p:cNvSpPr>
          <p:nvPr/>
        </p:nvSpPr>
        <p:spPr>
          <a:xfrm>
            <a:off x="235733" y="1386874"/>
            <a:ext cx="8500530" cy="664645"/>
          </a:xfrm>
          <a:prstGeom prst="rect">
            <a:avLst/>
          </a:prstGeom>
          <a:noFill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8738" indent="0">
              <a:buFont typeface="Wingdings" pitchFamily="2" charset="2"/>
              <a:buNone/>
            </a:pPr>
            <a:r>
              <a:rPr lang="en-US" altLang="en-US" sz="3200" dirty="0">
                <a:solidFill>
                  <a:srgbClr val="0070C0"/>
                </a:solidFill>
              </a:rPr>
              <a:t>A weight is associated with each edge.</a:t>
            </a:r>
          </a:p>
        </p:txBody>
      </p:sp>
      <p:sp>
        <p:nvSpPr>
          <p:cNvPr id="29" name="Rectangle 3">
            <a:extLst>
              <a:ext uri="{FF2B5EF4-FFF2-40B4-BE49-F238E27FC236}">
                <a16:creationId xmlns:a16="http://schemas.microsoft.com/office/drawing/2014/main" id="{2F3FB555-F43A-C64C-A62D-A283F97E06EC}"/>
              </a:ext>
            </a:extLst>
          </p:cNvPr>
          <p:cNvSpPr txBox="1">
            <a:spLocks noChangeArrowheads="1"/>
          </p:cNvSpPr>
          <p:nvPr/>
        </p:nvSpPr>
        <p:spPr>
          <a:xfrm>
            <a:off x="286744" y="4806482"/>
            <a:ext cx="8500530" cy="1267825"/>
          </a:xfrm>
          <a:prstGeom prst="rect">
            <a:avLst/>
          </a:prstGeom>
          <a:noFill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8738" indent="0">
              <a:buFont typeface="Wingdings" pitchFamily="2" charset="2"/>
              <a:buNone/>
            </a:pPr>
            <a:r>
              <a:rPr lang="en-US" sz="3200" b="1" dirty="0">
                <a:solidFill>
                  <a:srgbClr val="0070C0"/>
                </a:solidFill>
              </a:rPr>
              <a:t>A Sub-Graph</a:t>
            </a:r>
            <a:endParaRPr lang="en-US" altLang="en-US" sz="3200" dirty="0">
              <a:solidFill>
                <a:srgbClr val="0070C0"/>
              </a:solidFill>
            </a:endParaRPr>
          </a:p>
          <a:p>
            <a:pPr marL="58738" indent="0">
              <a:buFont typeface="Wingdings" pitchFamily="2" charset="2"/>
              <a:buNone/>
            </a:pPr>
            <a:r>
              <a:rPr lang="en-US" altLang="en-US" sz="3200" dirty="0"/>
              <a:t>A subset of vertices and edges.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5B2F948-C124-B249-A16F-8DC6BF27C761}"/>
              </a:ext>
            </a:extLst>
          </p:cNvPr>
          <p:cNvGrpSpPr>
            <a:grpSpLocks noChangeAspect="1"/>
          </p:cNvGrpSpPr>
          <p:nvPr/>
        </p:nvGrpSpPr>
        <p:grpSpPr>
          <a:xfrm>
            <a:off x="4286250" y="2016179"/>
            <a:ext cx="4349750" cy="3222037"/>
            <a:chOff x="4286250" y="2286000"/>
            <a:chExt cx="2314575" cy="1714500"/>
          </a:xfrm>
        </p:grpSpPr>
        <p:grpSp>
          <p:nvGrpSpPr>
            <p:cNvPr id="30" name="Group 4">
              <a:extLst>
                <a:ext uri="{FF2B5EF4-FFF2-40B4-BE49-F238E27FC236}">
                  <a16:creationId xmlns:a16="http://schemas.microsoft.com/office/drawing/2014/main" id="{A3E0513A-FA85-E44F-941B-F70EBFD115F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286250" y="2343150"/>
              <a:ext cx="2314575" cy="1628775"/>
              <a:chOff x="3877" y="1478"/>
              <a:chExt cx="4050" cy="2932"/>
            </a:xfrm>
          </p:grpSpPr>
          <p:sp>
            <p:nvSpPr>
              <p:cNvPr id="52" name="AutoShape 5">
                <a:extLst>
                  <a:ext uri="{FF2B5EF4-FFF2-40B4-BE49-F238E27FC236}">
                    <a16:creationId xmlns:a16="http://schemas.microsoft.com/office/drawing/2014/main" id="{A7CFEA5F-ACAD-1C42-9F40-C6D1E32B75C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877" y="1478"/>
                <a:ext cx="4050" cy="29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/>
                <a:endParaRPr lang="en-US" altLang="en-US" sz="1800"/>
              </a:p>
            </p:txBody>
          </p:sp>
          <p:sp>
            <p:nvSpPr>
              <p:cNvPr id="53" name="Oval 6">
                <a:extLst>
                  <a:ext uri="{FF2B5EF4-FFF2-40B4-BE49-F238E27FC236}">
                    <a16:creationId xmlns:a16="http://schemas.microsoft.com/office/drawing/2014/main" id="{64C160F8-B49D-0647-AFD8-0BAA82F2D6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77" y="1633"/>
                <a:ext cx="450" cy="463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/>
                <a:r>
                  <a:rPr lang="en-US" altLang="en-US" sz="1800" b="1" dirty="0">
                    <a:solidFill>
                      <a:srgbClr val="0070C0"/>
                    </a:solidFill>
                  </a:rPr>
                  <a:t>A</a:t>
                </a:r>
              </a:p>
            </p:txBody>
          </p:sp>
          <p:sp>
            <p:nvSpPr>
              <p:cNvPr id="54" name="Oval 7">
                <a:extLst>
                  <a:ext uri="{FF2B5EF4-FFF2-40B4-BE49-F238E27FC236}">
                    <a16:creationId xmlns:a16="http://schemas.microsoft.com/office/drawing/2014/main" id="{5DAD3F28-1B9A-2742-9B44-19157F44F0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27" y="1633"/>
                <a:ext cx="450" cy="462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800" b="1" dirty="0">
                    <a:solidFill>
                      <a:srgbClr val="0070C0"/>
                    </a:solidFill>
                  </a:rPr>
                  <a:t>F</a:t>
                </a:r>
              </a:p>
            </p:txBody>
          </p:sp>
          <p:sp>
            <p:nvSpPr>
              <p:cNvPr id="55" name="Oval 8">
                <a:extLst>
                  <a:ext uri="{FF2B5EF4-FFF2-40B4-BE49-F238E27FC236}">
                    <a16:creationId xmlns:a16="http://schemas.microsoft.com/office/drawing/2014/main" id="{5C7E7D3F-B3BC-0E4A-87E6-5605E3F41F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77" y="2713"/>
                <a:ext cx="450" cy="463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800" b="1" dirty="0">
                    <a:solidFill>
                      <a:srgbClr val="0070C0"/>
                    </a:solidFill>
                  </a:rPr>
                  <a:t>G</a:t>
                </a:r>
              </a:p>
            </p:txBody>
          </p:sp>
          <p:sp>
            <p:nvSpPr>
              <p:cNvPr id="56" name="Oval 9">
                <a:extLst>
                  <a:ext uri="{FF2B5EF4-FFF2-40B4-BE49-F238E27FC236}">
                    <a16:creationId xmlns:a16="http://schemas.microsoft.com/office/drawing/2014/main" id="{1A69309E-F023-D042-B3CB-FBE94C0AC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7" y="2713"/>
                <a:ext cx="450" cy="463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800" b="1" dirty="0">
                    <a:solidFill>
                      <a:srgbClr val="0070C0"/>
                    </a:solidFill>
                  </a:rPr>
                  <a:t>B</a:t>
                </a:r>
              </a:p>
            </p:txBody>
          </p:sp>
          <p:sp>
            <p:nvSpPr>
              <p:cNvPr id="57" name="Oval 10">
                <a:extLst>
                  <a:ext uri="{FF2B5EF4-FFF2-40B4-BE49-F238E27FC236}">
                    <a16:creationId xmlns:a16="http://schemas.microsoft.com/office/drawing/2014/main" id="{3AE47F09-D643-004D-8AB5-D105EB8E23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7" y="2713"/>
                <a:ext cx="450" cy="464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800" b="1" dirty="0">
                    <a:solidFill>
                      <a:srgbClr val="0070C0"/>
                    </a:solidFill>
                  </a:rPr>
                  <a:t>E</a:t>
                </a:r>
              </a:p>
            </p:txBody>
          </p:sp>
          <p:sp>
            <p:nvSpPr>
              <p:cNvPr id="58" name="Oval 11">
                <a:extLst>
                  <a:ext uri="{FF2B5EF4-FFF2-40B4-BE49-F238E27FC236}">
                    <a16:creationId xmlns:a16="http://schemas.microsoft.com/office/drawing/2014/main" id="{55318A85-7D6C-DF43-B8EB-2F6E7734E6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27" y="3793"/>
                <a:ext cx="450" cy="463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800" b="1" dirty="0">
                    <a:solidFill>
                      <a:srgbClr val="0070C0"/>
                    </a:solidFill>
                  </a:rPr>
                  <a:t>D</a:t>
                </a:r>
              </a:p>
            </p:txBody>
          </p:sp>
          <p:sp>
            <p:nvSpPr>
              <p:cNvPr id="59" name="Oval 12">
                <a:extLst>
                  <a:ext uri="{FF2B5EF4-FFF2-40B4-BE49-F238E27FC236}">
                    <a16:creationId xmlns:a16="http://schemas.microsoft.com/office/drawing/2014/main" id="{2ED8F3B2-48A2-AD40-8FF9-7A12230CFA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27" y="3793"/>
                <a:ext cx="450" cy="463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800" b="1" dirty="0">
                    <a:solidFill>
                      <a:srgbClr val="0070C0"/>
                    </a:solidFill>
                  </a:rPr>
                  <a:t>C</a:t>
                </a:r>
              </a:p>
            </p:txBody>
          </p:sp>
          <p:sp>
            <p:nvSpPr>
              <p:cNvPr id="60" name="Line 13">
                <a:extLst>
                  <a:ext uri="{FF2B5EF4-FFF2-40B4-BE49-F238E27FC236}">
                    <a16:creationId xmlns:a16="http://schemas.microsoft.com/office/drawing/2014/main" id="{DC94EA37-4186-104A-BB4A-D2F55A7782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377" y="2010"/>
                <a:ext cx="457" cy="748"/>
              </a:xfrm>
              <a:prstGeom prst="line">
                <a:avLst/>
              </a:prstGeom>
              <a:noFill/>
              <a:ln w="5715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1" name="Line 14">
                <a:extLst>
                  <a:ext uri="{FF2B5EF4-FFF2-40B4-BE49-F238E27FC236}">
                    <a16:creationId xmlns:a16="http://schemas.microsoft.com/office/drawing/2014/main" id="{C44BB5D7-6960-3F44-8A6B-926827F449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7" y="3176"/>
                <a:ext cx="750" cy="61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2" name="Line 15">
                <a:extLst>
                  <a:ext uri="{FF2B5EF4-FFF2-40B4-BE49-F238E27FC236}">
                    <a16:creationId xmlns:a16="http://schemas.microsoft.com/office/drawing/2014/main" id="{C51D8EA5-9FB4-C148-9EC7-D00D7B8EB5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27" y="1941"/>
                <a:ext cx="1200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3" name="Line 16">
                <a:extLst>
                  <a:ext uri="{FF2B5EF4-FFF2-40B4-BE49-F238E27FC236}">
                    <a16:creationId xmlns:a16="http://schemas.microsoft.com/office/drawing/2014/main" id="{2F1B6FBE-B35E-3840-BAB3-9E56BF4E00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77" y="3947"/>
                <a:ext cx="1050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4" name="Line 17">
                <a:extLst>
                  <a:ext uri="{FF2B5EF4-FFF2-40B4-BE49-F238E27FC236}">
                    <a16:creationId xmlns:a16="http://schemas.microsoft.com/office/drawing/2014/main" id="{C98600DC-D244-FA48-AFA4-403D7FEBCC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727" y="3176"/>
                <a:ext cx="750" cy="61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5" name="Line 18">
                <a:extLst>
                  <a:ext uri="{FF2B5EF4-FFF2-40B4-BE49-F238E27FC236}">
                    <a16:creationId xmlns:a16="http://schemas.microsoft.com/office/drawing/2014/main" id="{2CDACB92-547F-7D43-80C3-2CF4A64A89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77" y="1941"/>
                <a:ext cx="600" cy="77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6" name="Line 19">
                <a:extLst>
                  <a:ext uri="{FF2B5EF4-FFF2-40B4-BE49-F238E27FC236}">
                    <a16:creationId xmlns:a16="http://schemas.microsoft.com/office/drawing/2014/main" id="{35D267D4-CF52-CE40-BFC8-F52EF02E3A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977" y="2096"/>
                <a:ext cx="600" cy="61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7" name="Line 20">
                <a:extLst>
                  <a:ext uri="{FF2B5EF4-FFF2-40B4-BE49-F238E27FC236}">
                    <a16:creationId xmlns:a16="http://schemas.microsoft.com/office/drawing/2014/main" id="{6222D9D2-727F-7A4E-8AC0-D0E582ED6A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227" y="3021"/>
                <a:ext cx="450" cy="77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8" name="Line 21">
                <a:extLst>
                  <a:ext uri="{FF2B5EF4-FFF2-40B4-BE49-F238E27FC236}">
                    <a16:creationId xmlns:a16="http://schemas.microsoft.com/office/drawing/2014/main" id="{BEAA11C9-361F-244C-96CF-82AA44FF6E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7" y="2096"/>
                <a:ext cx="750" cy="617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9" name="Line 22">
                <a:extLst>
                  <a:ext uri="{FF2B5EF4-FFF2-40B4-BE49-F238E27FC236}">
                    <a16:creationId xmlns:a16="http://schemas.microsoft.com/office/drawing/2014/main" id="{5500D550-13B0-0B42-ABBE-0D2BD1922A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27" y="2867"/>
                <a:ext cx="1200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70" name="Line 23">
                <a:extLst>
                  <a:ext uri="{FF2B5EF4-FFF2-40B4-BE49-F238E27FC236}">
                    <a16:creationId xmlns:a16="http://schemas.microsoft.com/office/drawing/2014/main" id="{292F2462-DFD9-1944-B967-CFC4B2C629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77" y="2867"/>
                <a:ext cx="1200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71" name="Line 24">
                <a:extLst>
                  <a:ext uri="{FF2B5EF4-FFF2-40B4-BE49-F238E27FC236}">
                    <a16:creationId xmlns:a16="http://schemas.microsoft.com/office/drawing/2014/main" id="{9CA6B499-EBA0-FC43-843D-47EFD47642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977" y="3176"/>
                <a:ext cx="600" cy="61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sp>
          <p:nvSpPr>
            <p:cNvPr id="72" name="Text Box 25">
              <a:extLst>
                <a:ext uri="{FF2B5EF4-FFF2-40B4-BE49-F238E27FC236}">
                  <a16:creationId xmlns:a16="http://schemas.microsoft.com/office/drawing/2014/main" id="{9EF3BEC9-DB86-544F-B26F-376FD915D0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5073" y="2774511"/>
              <a:ext cx="166503" cy="196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2</a:t>
              </a:r>
            </a:p>
          </p:txBody>
        </p:sp>
        <p:sp>
          <p:nvSpPr>
            <p:cNvPr id="73" name="Text Box 26">
              <a:extLst>
                <a:ext uri="{FF2B5EF4-FFF2-40B4-BE49-F238E27FC236}">
                  <a16:creationId xmlns:a16="http://schemas.microsoft.com/office/drawing/2014/main" id="{0F57F1BE-8F1A-314E-BA3F-C0AC5959F0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5894" y="2315766"/>
              <a:ext cx="166503" cy="196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3</a:t>
              </a:r>
            </a:p>
          </p:txBody>
        </p:sp>
        <p:sp>
          <p:nvSpPr>
            <p:cNvPr id="74" name="Text Box 27">
              <a:extLst>
                <a:ext uri="{FF2B5EF4-FFF2-40B4-BE49-F238E27FC236}">
                  <a16:creationId xmlns:a16="http://schemas.microsoft.com/office/drawing/2014/main" id="{2E68336A-B4B4-4E43-AF57-FD7CD1CF1A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0" y="3371850"/>
              <a:ext cx="166503" cy="196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1</a:t>
              </a:r>
            </a:p>
          </p:txBody>
        </p:sp>
        <p:sp>
          <p:nvSpPr>
            <p:cNvPr id="75" name="Text Box 29">
              <a:extLst>
                <a:ext uri="{FF2B5EF4-FFF2-40B4-BE49-F238E27FC236}">
                  <a16:creationId xmlns:a16="http://schemas.microsoft.com/office/drawing/2014/main" id="{D40D77CE-B739-114C-906E-5CAD5191DF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42465" y="2806469"/>
              <a:ext cx="166503" cy="196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1</a:t>
              </a:r>
            </a:p>
          </p:txBody>
        </p:sp>
        <p:sp>
          <p:nvSpPr>
            <p:cNvPr id="76" name="Text Box 30">
              <a:extLst>
                <a:ext uri="{FF2B5EF4-FFF2-40B4-BE49-F238E27FC236}">
                  <a16:creationId xmlns:a16="http://schemas.microsoft.com/office/drawing/2014/main" id="{1BBFFE6D-1101-D644-9646-AB92959EB1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90885" y="2671990"/>
              <a:ext cx="166503" cy="196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2</a:t>
              </a:r>
            </a:p>
          </p:txBody>
        </p:sp>
        <p:sp>
          <p:nvSpPr>
            <p:cNvPr id="77" name="Text Box 31">
              <a:extLst>
                <a:ext uri="{FF2B5EF4-FFF2-40B4-BE49-F238E27FC236}">
                  <a16:creationId xmlns:a16="http://schemas.microsoft.com/office/drawing/2014/main" id="{CB46FC1F-7602-5346-8981-7F7F0127F2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18069" y="3406056"/>
              <a:ext cx="166503" cy="196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2</a:t>
              </a:r>
            </a:p>
          </p:txBody>
        </p:sp>
        <p:sp>
          <p:nvSpPr>
            <p:cNvPr id="78" name="Text Box 32">
              <a:extLst>
                <a:ext uri="{FF2B5EF4-FFF2-40B4-BE49-F238E27FC236}">
                  <a16:creationId xmlns:a16="http://schemas.microsoft.com/office/drawing/2014/main" id="{525DA6A3-6CAB-6044-A72A-4CC2004315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55630" y="3366394"/>
              <a:ext cx="166503" cy="196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4</a:t>
              </a:r>
            </a:p>
          </p:txBody>
        </p:sp>
        <p:sp>
          <p:nvSpPr>
            <p:cNvPr id="79" name="Oval 33">
              <a:extLst>
                <a:ext uri="{FF2B5EF4-FFF2-40B4-BE49-F238E27FC236}">
                  <a16:creationId xmlns:a16="http://schemas.microsoft.com/office/drawing/2014/main" id="{66406B51-2D96-7C4A-BF09-A302C747C8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4950" y="2286000"/>
              <a:ext cx="1200150" cy="1714500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80" name="Text Box 28">
              <a:extLst>
                <a:ext uri="{FF2B5EF4-FFF2-40B4-BE49-F238E27FC236}">
                  <a16:creationId xmlns:a16="http://schemas.microsoft.com/office/drawing/2014/main" id="{2AF912EF-000B-9F4A-9473-85FF10130B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8543" y="3371850"/>
              <a:ext cx="166503" cy="196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5</a:t>
              </a:r>
            </a:p>
          </p:txBody>
        </p:sp>
      </p:grp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12D887C-6700-74EC-0A8E-E7B3CA5B9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29600" y="6381750"/>
            <a:ext cx="571500" cy="476250"/>
          </a:xfrm>
        </p:spPr>
        <p:txBody>
          <a:bodyPr/>
          <a:lstStyle/>
          <a:p>
            <a:fld id="{394AF792-64ED-AA4F-A66F-08715B4E6CC3}" type="slidenum">
              <a:rPr lang="en-US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625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Nyhoff, ADTs, Data Structures and Problem Solving with C++, Second Edition, © 2005 Pearson Education, Inc. All rights reserved. 0-13-140909-3 </a:t>
            </a:r>
          </a:p>
        </p:txBody>
      </p:sp>
      <p:sp>
        <p:nvSpPr>
          <p:cNvPr id="1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0FD7E-791C-5349-B2F3-A87E266B7591}" type="slidenum">
              <a:rPr lang="en-US"/>
              <a:pPr/>
              <a:t>13</a:t>
            </a:fld>
            <a:endParaRPr lang="en-US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354238"/>
            <a:ext cx="8686800" cy="4995762"/>
          </a:xfrm>
        </p:spPr>
        <p:txBody>
          <a:bodyPr/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Consists of a finite set of elements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/>
              <a:t>Vertices or </a:t>
            </a:r>
            <a:r>
              <a:rPr lang="en-US" dirty="0">
                <a:solidFill>
                  <a:srgbClr val="0070C0"/>
                </a:solidFill>
              </a:rPr>
              <a:t>nodes</a:t>
            </a:r>
            <a:r>
              <a:rPr lang="en-US" dirty="0"/>
              <a:t> (6)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Together with finite set of directed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/>
              <a:t>Arcs or </a:t>
            </a:r>
            <a:r>
              <a:rPr lang="en-US" dirty="0">
                <a:solidFill>
                  <a:srgbClr val="0070C0"/>
                </a:solidFill>
              </a:rPr>
              <a:t>edges</a:t>
            </a:r>
            <a:r>
              <a:rPr lang="en-US" dirty="0"/>
              <a:t> (10)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/>
              <a:t>Connect pairs of vertices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3000" dirty="0"/>
              <a:t>Tree is kind of directed graph</a:t>
            </a:r>
          </a:p>
        </p:txBody>
      </p:sp>
      <p:pic>
        <p:nvPicPr>
          <p:cNvPr id="52232" name="Picture 8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5942060" y="3583229"/>
            <a:ext cx="3182938" cy="1597025"/>
          </a:xfrm>
          <a:noFill/>
          <a:ln/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</p:pic>
      <p:grpSp>
        <p:nvGrpSpPr>
          <p:cNvPr id="52235" name="Group 11"/>
          <p:cNvGrpSpPr>
            <a:grpSpLocks/>
          </p:cNvGrpSpPr>
          <p:nvPr/>
        </p:nvGrpSpPr>
        <p:grpSpPr bwMode="auto">
          <a:xfrm>
            <a:off x="4792710" y="2286440"/>
            <a:ext cx="2942249" cy="1461979"/>
            <a:chOff x="2706" y="1930"/>
            <a:chExt cx="1807" cy="885"/>
          </a:xfrm>
        </p:grpSpPr>
        <p:sp>
          <p:nvSpPr>
            <p:cNvPr id="52233" name="Freeform 9"/>
            <p:cNvSpPr>
              <a:spLocks/>
            </p:cNvSpPr>
            <p:nvPr/>
          </p:nvSpPr>
          <p:spPr bwMode="auto">
            <a:xfrm>
              <a:off x="2706" y="2091"/>
              <a:ext cx="1794" cy="724"/>
            </a:xfrm>
            <a:custGeom>
              <a:avLst/>
              <a:gdLst/>
              <a:ahLst/>
              <a:cxnLst>
                <a:cxn ang="0">
                  <a:pos x="0" y="17"/>
                </a:cxn>
                <a:cxn ang="0">
                  <a:pos x="907" y="149"/>
                </a:cxn>
                <a:cxn ang="0">
                  <a:pos x="1246" y="914"/>
                </a:cxn>
              </a:cxnLst>
              <a:rect l="0" t="0" r="r" b="b"/>
              <a:pathLst>
                <a:path w="1246" h="914">
                  <a:moveTo>
                    <a:pt x="0" y="17"/>
                  </a:moveTo>
                  <a:cubicBezTo>
                    <a:pt x="350" y="8"/>
                    <a:pt x="700" y="0"/>
                    <a:pt x="907" y="149"/>
                  </a:cubicBezTo>
                  <a:cubicBezTo>
                    <a:pt x="1114" y="298"/>
                    <a:pt x="1180" y="606"/>
                    <a:pt x="1246" y="91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2234" name="Freeform 10"/>
            <p:cNvSpPr>
              <a:spLocks/>
            </p:cNvSpPr>
            <p:nvPr/>
          </p:nvSpPr>
          <p:spPr bwMode="auto">
            <a:xfrm>
              <a:off x="2706" y="1930"/>
              <a:ext cx="1807" cy="885"/>
            </a:xfrm>
            <a:custGeom>
              <a:avLst/>
              <a:gdLst/>
              <a:ahLst/>
              <a:cxnLst>
                <a:cxn ang="0">
                  <a:pos x="0" y="209"/>
                </a:cxn>
                <a:cxn ang="0">
                  <a:pos x="1216" y="154"/>
                </a:cxn>
                <a:cxn ang="0">
                  <a:pos x="1792" y="1133"/>
                </a:cxn>
              </a:cxnLst>
              <a:rect l="0" t="0" r="r" b="b"/>
              <a:pathLst>
                <a:path w="1792" h="1133">
                  <a:moveTo>
                    <a:pt x="0" y="209"/>
                  </a:moveTo>
                  <a:cubicBezTo>
                    <a:pt x="458" y="104"/>
                    <a:pt x="917" y="0"/>
                    <a:pt x="1216" y="154"/>
                  </a:cubicBezTo>
                  <a:cubicBezTo>
                    <a:pt x="1515" y="308"/>
                    <a:pt x="1653" y="720"/>
                    <a:pt x="1792" y="113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2239" name="Group 15"/>
          <p:cNvGrpSpPr>
            <a:grpSpLocks/>
          </p:cNvGrpSpPr>
          <p:nvPr/>
        </p:nvGrpSpPr>
        <p:grpSpPr bwMode="auto">
          <a:xfrm flipV="1">
            <a:off x="4266505" y="4139074"/>
            <a:ext cx="3467745" cy="540430"/>
            <a:chOff x="2286" y="1636"/>
            <a:chExt cx="2290" cy="951"/>
          </a:xfrm>
        </p:grpSpPr>
        <p:sp>
          <p:nvSpPr>
            <p:cNvPr id="52236" name="Freeform 12"/>
            <p:cNvSpPr>
              <a:spLocks/>
            </p:cNvSpPr>
            <p:nvPr/>
          </p:nvSpPr>
          <p:spPr bwMode="auto">
            <a:xfrm flipV="1">
              <a:off x="2286" y="1636"/>
              <a:ext cx="2290" cy="843"/>
            </a:xfrm>
            <a:custGeom>
              <a:avLst/>
              <a:gdLst/>
              <a:ahLst/>
              <a:cxnLst>
                <a:cxn ang="0">
                  <a:pos x="0" y="118"/>
                </a:cxn>
                <a:cxn ang="0">
                  <a:pos x="1517" y="44"/>
                </a:cxn>
                <a:cxn ang="0">
                  <a:pos x="1929" y="383"/>
                </a:cxn>
              </a:cxnLst>
              <a:rect l="0" t="0" r="r" b="b"/>
              <a:pathLst>
                <a:path w="1929" h="383">
                  <a:moveTo>
                    <a:pt x="0" y="118"/>
                  </a:moveTo>
                  <a:cubicBezTo>
                    <a:pt x="598" y="59"/>
                    <a:pt x="1196" y="0"/>
                    <a:pt x="1517" y="44"/>
                  </a:cubicBezTo>
                  <a:cubicBezTo>
                    <a:pt x="1838" y="88"/>
                    <a:pt x="1883" y="235"/>
                    <a:pt x="1929" y="38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2238" name="Freeform 14"/>
            <p:cNvSpPr>
              <a:spLocks/>
            </p:cNvSpPr>
            <p:nvPr/>
          </p:nvSpPr>
          <p:spPr bwMode="auto">
            <a:xfrm flipV="1">
              <a:off x="2286" y="2323"/>
              <a:ext cx="1488" cy="26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03" y="28"/>
                </a:cxn>
                <a:cxn ang="0">
                  <a:pos x="1298" y="156"/>
                </a:cxn>
                <a:cxn ang="0">
                  <a:pos x="1536" y="531"/>
                </a:cxn>
              </a:cxnLst>
              <a:rect l="0" t="0" r="r" b="b"/>
              <a:pathLst>
                <a:path w="1536" h="531">
                  <a:moveTo>
                    <a:pt x="0" y="0"/>
                  </a:moveTo>
                  <a:cubicBezTo>
                    <a:pt x="193" y="1"/>
                    <a:pt x="387" y="2"/>
                    <a:pt x="603" y="28"/>
                  </a:cubicBezTo>
                  <a:cubicBezTo>
                    <a:pt x="819" y="54"/>
                    <a:pt x="1143" y="72"/>
                    <a:pt x="1298" y="156"/>
                  </a:cubicBezTo>
                  <a:cubicBezTo>
                    <a:pt x="1453" y="240"/>
                    <a:pt x="1494" y="385"/>
                    <a:pt x="1536" y="531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4A71E634-D555-6E67-A041-5E950E6E0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681" y="19832"/>
            <a:ext cx="8686800" cy="1093283"/>
          </a:xfrm>
        </p:spPr>
        <p:txBody>
          <a:bodyPr>
            <a:noAutofit/>
          </a:bodyPr>
          <a:lstStyle/>
          <a:p>
            <a:r>
              <a:rPr lang="en-US" sz="4000" b="1" dirty="0"/>
              <a:t>Graphs: Basic Definitions</a:t>
            </a:r>
            <a:br>
              <a:rPr lang="en-US" sz="4000" b="1" dirty="0"/>
            </a:br>
            <a:r>
              <a:rPr lang="en-US" sz="4000" b="1" dirty="0">
                <a:solidFill>
                  <a:srgbClr val="0070C0"/>
                </a:solidFill>
              </a:rPr>
              <a:t>Directed graph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AF80EB25-8690-8649-A939-051605227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681" y="135582"/>
            <a:ext cx="7315200" cy="109328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Graphs: Basic Definitions</a:t>
            </a:r>
            <a:br>
              <a:rPr lang="en-US" b="1" dirty="0"/>
            </a:br>
            <a:r>
              <a:rPr lang="en-US" b="1" dirty="0">
                <a:solidFill>
                  <a:srgbClr val="0070C0"/>
                </a:solidFill>
              </a:rPr>
              <a:t>Directed graph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3">
                <a:extLst>
                  <a:ext uri="{FF2B5EF4-FFF2-40B4-BE49-F238E27FC236}">
                    <a16:creationId xmlns:a16="http://schemas.microsoft.com/office/drawing/2014/main" id="{A35D98A7-72B7-EE48-AF2F-B9136A4D803D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235733" y="1386874"/>
                <a:ext cx="8500530" cy="1157047"/>
              </a:xfrm>
              <a:prstGeom prst="rect">
                <a:avLst/>
              </a:prstGeom>
              <a:noFill/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58738" indent="0">
                  <a:buFont typeface="Wingdings" pitchFamily="2" charset="2"/>
                  <a:buNone/>
                </a:pPr>
                <a:r>
                  <a:rPr lang="en-US" altLang="en-US" sz="3200" dirty="0"/>
                  <a:t>A graph in which adjacency is not symmetric,</a:t>
                </a:r>
              </a:p>
              <a:p>
                <a:pPr marL="58738" indent="0">
                  <a:buFont typeface="Wingdings" pitchFamily="2" charset="2"/>
                  <a:buNone/>
                </a:pPr>
                <a:r>
                  <a:rPr lang="en-US" altLang="en-US" sz="3200" dirty="0"/>
                  <a:t>i.e.,</a:t>
                </a:r>
                <a:r>
                  <a:rPr lang="en-US" altLang="en-US" sz="3200" dirty="0">
                    <a:solidFill>
                      <a:srgbClr val="FF8600"/>
                    </a:solidFill>
                  </a:rPr>
                  <a:t> </a:t>
                </a:r>
                <a:r>
                  <a:rPr lang="en-US" altLang="en-US" sz="3200" dirty="0">
                    <a:solidFill>
                      <a:srgbClr val="0070C0"/>
                    </a:solidFill>
                  </a:rPr>
                  <a:t>(u, v) </a:t>
                </a:r>
                <a14:m>
                  <m:oMath xmlns:m="http://schemas.openxmlformats.org/officeDocument/2006/math">
                    <m:r>
                      <a:rPr lang="en-US" altLang="en-US" sz="32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altLang="en-US" sz="3200" dirty="0">
                    <a:solidFill>
                      <a:srgbClr val="0070C0"/>
                    </a:solidFill>
                  </a:rPr>
                  <a:t> (v, u)</a:t>
                </a:r>
              </a:p>
              <a:p>
                <a:pPr marL="58738" indent="0">
                  <a:buFont typeface="Wingdings" pitchFamily="2" charset="2"/>
                  <a:buNone/>
                </a:pPr>
                <a:endParaRPr lang="en-US" altLang="en-US" sz="3200" dirty="0">
                  <a:solidFill>
                    <a:srgbClr val="FF8600"/>
                  </a:solidFill>
                </a:endParaRPr>
              </a:p>
            </p:txBody>
          </p:sp>
        </mc:Choice>
        <mc:Fallback xmlns="">
          <p:sp>
            <p:nvSpPr>
              <p:cNvPr id="26" name="Rectangle 3">
                <a:extLst>
                  <a:ext uri="{FF2B5EF4-FFF2-40B4-BE49-F238E27FC236}">
                    <a16:creationId xmlns:a16="http://schemas.microsoft.com/office/drawing/2014/main" id="{A35D98A7-72B7-EE48-AF2F-B9136A4D80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733" y="1386874"/>
                <a:ext cx="8500530" cy="1157047"/>
              </a:xfrm>
              <a:prstGeom prst="rect">
                <a:avLst/>
              </a:prstGeom>
              <a:blipFill>
                <a:blip r:embed="rId2"/>
                <a:stretch>
                  <a:fillRect l="-1045" t="-11957" b="-11957"/>
                </a:stretch>
              </a:blipFill>
            </p:spPr>
            <p:txBody>
              <a:bodyPr/>
              <a:lstStyle/>
              <a:p>
                <a:r>
                  <a:rPr lang="en-E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3">
            <a:extLst>
              <a:ext uri="{FF2B5EF4-FFF2-40B4-BE49-F238E27FC236}">
                <a16:creationId xmlns:a16="http://schemas.microsoft.com/office/drawing/2014/main" id="{2F3FB555-F43A-C64C-A62D-A283F97E06EC}"/>
              </a:ext>
            </a:extLst>
          </p:cNvPr>
          <p:cNvSpPr txBox="1">
            <a:spLocks noChangeArrowheads="1"/>
          </p:cNvSpPr>
          <p:nvPr/>
        </p:nvSpPr>
        <p:spPr>
          <a:xfrm>
            <a:off x="286744" y="4806482"/>
            <a:ext cx="3116023" cy="1267825"/>
          </a:xfrm>
          <a:prstGeom prst="rect">
            <a:avLst/>
          </a:prstGeom>
          <a:noFill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8738" indent="0">
              <a:buFont typeface="Wingdings" pitchFamily="2" charset="2"/>
              <a:buNone/>
            </a:pPr>
            <a:r>
              <a:rPr lang="en-US" sz="3200" dirty="0"/>
              <a:t>Also known as</a:t>
            </a:r>
          </a:p>
          <a:p>
            <a:pPr marL="58738" indent="0">
              <a:buFont typeface="Wingdings" pitchFamily="2" charset="2"/>
              <a:buNone/>
            </a:pPr>
            <a:r>
              <a:rPr lang="en-US" sz="3200" b="1" dirty="0"/>
              <a:t>“</a:t>
            </a:r>
            <a:r>
              <a:rPr lang="en-US" sz="3200" b="1" dirty="0">
                <a:solidFill>
                  <a:srgbClr val="0070C0"/>
                </a:solidFill>
              </a:rPr>
              <a:t>Digraphs</a:t>
            </a:r>
            <a:r>
              <a:rPr lang="en-US" sz="3200" b="1" dirty="0"/>
              <a:t>”</a:t>
            </a:r>
          </a:p>
        </p:txBody>
      </p:sp>
      <p:grpSp>
        <p:nvGrpSpPr>
          <p:cNvPr id="37" name="Group 4">
            <a:extLst>
              <a:ext uri="{FF2B5EF4-FFF2-40B4-BE49-F238E27FC236}">
                <a16:creationId xmlns:a16="http://schemas.microsoft.com/office/drawing/2014/main" id="{360B6F2C-5E9F-2848-BFD3-AD0DCC6AF13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86250" y="2343150"/>
            <a:ext cx="4445019" cy="3127976"/>
            <a:chOff x="3877" y="1478"/>
            <a:chExt cx="4050" cy="2932"/>
          </a:xfrm>
        </p:grpSpPr>
        <p:sp>
          <p:nvSpPr>
            <p:cNvPr id="38" name="AutoShape 5">
              <a:extLst>
                <a:ext uri="{FF2B5EF4-FFF2-40B4-BE49-F238E27FC236}">
                  <a16:creationId xmlns:a16="http://schemas.microsoft.com/office/drawing/2014/main" id="{2D47A362-4727-8B4C-B89C-CE2EA9F1BE6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77" y="1478"/>
              <a:ext cx="4050" cy="2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/>
              <a:endParaRPr lang="en-US" altLang="en-US" sz="1800"/>
            </a:p>
          </p:txBody>
        </p:sp>
        <p:sp>
          <p:nvSpPr>
            <p:cNvPr id="39" name="Oval 6">
              <a:extLst>
                <a:ext uri="{FF2B5EF4-FFF2-40B4-BE49-F238E27FC236}">
                  <a16:creationId xmlns:a16="http://schemas.microsoft.com/office/drawing/2014/main" id="{083ED7F2-46C9-AD45-AD10-5F7B4EEF15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7" y="1633"/>
              <a:ext cx="450" cy="463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A</a:t>
              </a:r>
            </a:p>
          </p:txBody>
        </p:sp>
        <p:sp>
          <p:nvSpPr>
            <p:cNvPr id="40" name="Oval 7">
              <a:extLst>
                <a:ext uri="{FF2B5EF4-FFF2-40B4-BE49-F238E27FC236}">
                  <a16:creationId xmlns:a16="http://schemas.microsoft.com/office/drawing/2014/main" id="{79AE4421-E6F3-A74C-AC5B-3691CAEB51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7" y="1633"/>
              <a:ext cx="450" cy="462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F</a:t>
              </a:r>
            </a:p>
          </p:txBody>
        </p:sp>
        <p:sp>
          <p:nvSpPr>
            <p:cNvPr id="41" name="Oval 8">
              <a:extLst>
                <a:ext uri="{FF2B5EF4-FFF2-40B4-BE49-F238E27FC236}">
                  <a16:creationId xmlns:a16="http://schemas.microsoft.com/office/drawing/2014/main" id="{9D9B92D8-74D4-7A4D-8E8B-7ADDD35868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7" y="2713"/>
              <a:ext cx="450" cy="463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G</a:t>
              </a:r>
            </a:p>
          </p:txBody>
        </p:sp>
        <p:sp>
          <p:nvSpPr>
            <p:cNvPr id="42" name="Oval 9">
              <a:extLst>
                <a:ext uri="{FF2B5EF4-FFF2-40B4-BE49-F238E27FC236}">
                  <a16:creationId xmlns:a16="http://schemas.microsoft.com/office/drawing/2014/main" id="{3DE3D2CD-BAED-2C45-99A9-137910976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7" y="2713"/>
              <a:ext cx="450" cy="463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B</a:t>
              </a:r>
            </a:p>
          </p:txBody>
        </p:sp>
        <p:sp>
          <p:nvSpPr>
            <p:cNvPr id="43" name="Oval 10">
              <a:extLst>
                <a:ext uri="{FF2B5EF4-FFF2-40B4-BE49-F238E27FC236}">
                  <a16:creationId xmlns:a16="http://schemas.microsoft.com/office/drawing/2014/main" id="{995D65DB-47FC-7B46-8581-CA61535880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27" y="2713"/>
              <a:ext cx="450" cy="464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E</a:t>
              </a:r>
            </a:p>
          </p:txBody>
        </p:sp>
        <p:sp>
          <p:nvSpPr>
            <p:cNvPr id="44" name="Oval 11">
              <a:extLst>
                <a:ext uri="{FF2B5EF4-FFF2-40B4-BE49-F238E27FC236}">
                  <a16:creationId xmlns:a16="http://schemas.microsoft.com/office/drawing/2014/main" id="{DF058903-28A7-0240-8A3D-E6066C9F6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7" y="3793"/>
              <a:ext cx="450" cy="463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D</a:t>
              </a:r>
            </a:p>
          </p:txBody>
        </p:sp>
        <p:sp>
          <p:nvSpPr>
            <p:cNvPr id="45" name="Oval 12">
              <a:extLst>
                <a:ext uri="{FF2B5EF4-FFF2-40B4-BE49-F238E27FC236}">
                  <a16:creationId xmlns:a16="http://schemas.microsoft.com/office/drawing/2014/main" id="{AEB68ECF-456F-F24F-AED6-F4D63E888E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7" y="3793"/>
              <a:ext cx="450" cy="463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C</a:t>
              </a:r>
            </a:p>
          </p:txBody>
        </p:sp>
        <p:sp>
          <p:nvSpPr>
            <p:cNvPr id="46" name="Line 13">
              <a:extLst>
                <a:ext uri="{FF2B5EF4-FFF2-40B4-BE49-F238E27FC236}">
                  <a16:creationId xmlns:a16="http://schemas.microsoft.com/office/drawing/2014/main" id="{37D176CD-5487-DD48-B234-CAEAA2A015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7" y="2096"/>
              <a:ext cx="600" cy="61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47" name="Line 14">
              <a:extLst>
                <a:ext uri="{FF2B5EF4-FFF2-40B4-BE49-F238E27FC236}">
                  <a16:creationId xmlns:a16="http://schemas.microsoft.com/office/drawing/2014/main" id="{EAE586EF-DB62-4E4B-BEB6-C4F999FCA6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7" y="3176"/>
              <a:ext cx="750" cy="61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48" name="Line 15">
              <a:extLst>
                <a:ext uri="{FF2B5EF4-FFF2-40B4-BE49-F238E27FC236}">
                  <a16:creationId xmlns:a16="http://schemas.microsoft.com/office/drawing/2014/main" id="{58546D8C-B900-7541-9E75-F815492740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7" y="1941"/>
              <a:ext cx="1200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49" name="Line 16">
              <a:extLst>
                <a:ext uri="{FF2B5EF4-FFF2-40B4-BE49-F238E27FC236}">
                  <a16:creationId xmlns:a16="http://schemas.microsoft.com/office/drawing/2014/main" id="{96743905-578E-0647-A1CB-7D8DDEB8F0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7" y="3947"/>
              <a:ext cx="105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0" name="Line 17">
              <a:extLst>
                <a:ext uri="{FF2B5EF4-FFF2-40B4-BE49-F238E27FC236}">
                  <a16:creationId xmlns:a16="http://schemas.microsoft.com/office/drawing/2014/main" id="{CDA4F4FD-ADC1-204C-9C53-C68367167B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27" y="3176"/>
              <a:ext cx="750" cy="61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1" name="Line 18">
              <a:extLst>
                <a:ext uri="{FF2B5EF4-FFF2-40B4-BE49-F238E27FC236}">
                  <a16:creationId xmlns:a16="http://schemas.microsoft.com/office/drawing/2014/main" id="{E785AF99-7482-A848-9D61-0E15AAFB7B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77" y="1941"/>
              <a:ext cx="600" cy="77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81" name="Line 19">
              <a:extLst>
                <a:ext uri="{FF2B5EF4-FFF2-40B4-BE49-F238E27FC236}">
                  <a16:creationId xmlns:a16="http://schemas.microsoft.com/office/drawing/2014/main" id="{E9F1A47E-26DA-D944-865B-1A0C43598E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77" y="2096"/>
              <a:ext cx="600" cy="61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82" name="Line 20">
              <a:extLst>
                <a:ext uri="{FF2B5EF4-FFF2-40B4-BE49-F238E27FC236}">
                  <a16:creationId xmlns:a16="http://schemas.microsoft.com/office/drawing/2014/main" id="{542AFF1C-5CCE-A442-A26D-5319D926E2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27" y="3021"/>
              <a:ext cx="450" cy="77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83" name="Line 21">
              <a:extLst>
                <a:ext uri="{FF2B5EF4-FFF2-40B4-BE49-F238E27FC236}">
                  <a16:creationId xmlns:a16="http://schemas.microsoft.com/office/drawing/2014/main" id="{65C05BBE-BA99-DB41-98AE-121850C371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7" y="2096"/>
              <a:ext cx="750" cy="61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84" name="Line 22">
              <a:extLst>
                <a:ext uri="{FF2B5EF4-FFF2-40B4-BE49-F238E27FC236}">
                  <a16:creationId xmlns:a16="http://schemas.microsoft.com/office/drawing/2014/main" id="{0C29393E-E470-F640-8B05-2573242EC3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27" y="2867"/>
              <a:ext cx="120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85" name="Line 23">
              <a:extLst>
                <a:ext uri="{FF2B5EF4-FFF2-40B4-BE49-F238E27FC236}">
                  <a16:creationId xmlns:a16="http://schemas.microsoft.com/office/drawing/2014/main" id="{9843C036-0925-664C-8D26-BF8E0B2ECA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7" y="2867"/>
              <a:ext cx="120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86" name="Line 24">
              <a:extLst>
                <a:ext uri="{FF2B5EF4-FFF2-40B4-BE49-F238E27FC236}">
                  <a16:creationId xmlns:a16="http://schemas.microsoft.com/office/drawing/2014/main" id="{D85DEAB0-EEE2-6C43-9AEF-935C21C241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77" y="3176"/>
              <a:ext cx="600" cy="61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</p:grp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E79FA64-F74D-7787-7425-75F53DD2D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29600" y="6381750"/>
            <a:ext cx="571500" cy="476250"/>
          </a:xfrm>
        </p:spPr>
        <p:txBody>
          <a:bodyPr/>
          <a:lstStyle/>
          <a:p>
            <a:fld id="{394AF792-64ED-AA4F-A66F-08715B4E6CC3}" type="slidenum">
              <a:rPr lang="en-US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9199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AF80EB25-8690-8649-A939-051605227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5582"/>
            <a:ext cx="9143999" cy="109328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Graphs: Basic Definitions</a:t>
            </a:r>
            <a:br>
              <a:rPr lang="en-US" b="1" dirty="0"/>
            </a:br>
            <a:r>
              <a:rPr lang="en-US" b="1" dirty="0">
                <a:solidFill>
                  <a:srgbClr val="0070C0"/>
                </a:solidFill>
              </a:rPr>
              <a:t>Directed weighted graph</a:t>
            </a: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A35D98A7-72B7-EE48-AF2F-B9136A4D803D}"/>
              </a:ext>
            </a:extLst>
          </p:cNvPr>
          <p:cNvSpPr txBox="1">
            <a:spLocks noChangeArrowheads="1"/>
          </p:cNvSpPr>
          <p:nvPr/>
        </p:nvSpPr>
        <p:spPr>
          <a:xfrm>
            <a:off x="235733" y="1416854"/>
            <a:ext cx="8500530" cy="626623"/>
          </a:xfrm>
          <a:prstGeom prst="rect">
            <a:avLst/>
          </a:prstGeom>
          <a:noFill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8738" indent="0">
              <a:buFont typeface="Wingdings" pitchFamily="2" charset="2"/>
              <a:buNone/>
            </a:pPr>
            <a:r>
              <a:rPr lang="en-US" altLang="en-US" sz="3200" dirty="0"/>
              <a:t>A directed graph with a weight for each edge.</a:t>
            </a:r>
          </a:p>
        </p:txBody>
      </p:sp>
      <p:sp>
        <p:nvSpPr>
          <p:cNvPr id="29" name="Rectangle 3">
            <a:extLst>
              <a:ext uri="{FF2B5EF4-FFF2-40B4-BE49-F238E27FC236}">
                <a16:creationId xmlns:a16="http://schemas.microsoft.com/office/drawing/2014/main" id="{2F3FB555-F43A-C64C-A62D-A283F97E06EC}"/>
              </a:ext>
            </a:extLst>
          </p:cNvPr>
          <p:cNvSpPr txBox="1">
            <a:spLocks noChangeArrowheads="1"/>
          </p:cNvSpPr>
          <p:nvPr/>
        </p:nvSpPr>
        <p:spPr>
          <a:xfrm>
            <a:off x="286744" y="4806482"/>
            <a:ext cx="2711099" cy="1267825"/>
          </a:xfrm>
          <a:prstGeom prst="rect">
            <a:avLst/>
          </a:prstGeom>
          <a:noFill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8738" indent="0">
              <a:buFont typeface="Wingdings" pitchFamily="2" charset="2"/>
              <a:buNone/>
            </a:pPr>
            <a:r>
              <a:rPr lang="en-US" sz="3200" dirty="0"/>
              <a:t>Also called a</a:t>
            </a:r>
          </a:p>
          <a:p>
            <a:pPr marL="58738" indent="0">
              <a:buFont typeface="Wingdings" pitchFamily="2" charset="2"/>
              <a:buNone/>
            </a:pPr>
            <a:r>
              <a:rPr lang="en-US" sz="3200" b="1" dirty="0"/>
              <a:t>“</a:t>
            </a:r>
            <a:r>
              <a:rPr lang="en-US" sz="3200" b="1" dirty="0">
                <a:solidFill>
                  <a:srgbClr val="0070C0"/>
                </a:solidFill>
              </a:rPr>
              <a:t>network</a:t>
            </a:r>
            <a:r>
              <a:rPr lang="en-US" sz="3200" b="1" dirty="0"/>
              <a:t>”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9782AAC-8A36-D24D-86CB-77881B7778E4}"/>
              </a:ext>
            </a:extLst>
          </p:cNvPr>
          <p:cNvGrpSpPr>
            <a:grpSpLocks noChangeAspect="1"/>
          </p:cNvGrpSpPr>
          <p:nvPr/>
        </p:nvGrpSpPr>
        <p:grpSpPr>
          <a:xfrm>
            <a:off x="3945281" y="2366692"/>
            <a:ext cx="4367894" cy="3073704"/>
            <a:chOff x="4286250" y="2343150"/>
            <a:chExt cx="2314575" cy="1628775"/>
          </a:xfrm>
        </p:grpSpPr>
        <p:grpSp>
          <p:nvGrpSpPr>
            <p:cNvPr id="30" name="Group 4">
              <a:extLst>
                <a:ext uri="{FF2B5EF4-FFF2-40B4-BE49-F238E27FC236}">
                  <a16:creationId xmlns:a16="http://schemas.microsoft.com/office/drawing/2014/main" id="{EB2847DD-6AB5-1A4C-8E40-E6D8C3B35CB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286250" y="2343150"/>
              <a:ext cx="2314575" cy="1628775"/>
              <a:chOff x="3877" y="1478"/>
              <a:chExt cx="4050" cy="2932"/>
            </a:xfrm>
          </p:grpSpPr>
          <p:sp>
            <p:nvSpPr>
              <p:cNvPr id="54" name="AutoShape 5">
                <a:extLst>
                  <a:ext uri="{FF2B5EF4-FFF2-40B4-BE49-F238E27FC236}">
                    <a16:creationId xmlns:a16="http://schemas.microsoft.com/office/drawing/2014/main" id="{1366561E-06FB-9D45-A93F-EB8D47F9AB9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877" y="1478"/>
                <a:ext cx="4050" cy="29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 eaLnBrk="1" hangingPunct="1"/>
                <a:endParaRPr lang="en-US" altLang="en-US" sz="1800"/>
              </a:p>
            </p:txBody>
          </p:sp>
          <p:sp>
            <p:nvSpPr>
              <p:cNvPr id="55" name="Oval 6">
                <a:extLst>
                  <a:ext uri="{FF2B5EF4-FFF2-40B4-BE49-F238E27FC236}">
                    <a16:creationId xmlns:a16="http://schemas.microsoft.com/office/drawing/2014/main" id="{C489E32F-859E-0D4F-8649-19E9836DAA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77" y="1633"/>
                <a:ext cx="450" cy="463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800" b="1" dirty="0">
                    <a:solidFill>
                      <a:srgbClr val="0070C0"/>
                    </a:solidFill>
                  </a:rPr>
                  <a:t>A</a:t>
                </a:r>
              </a:p>
            </p:txBody>
          </p:sp>
          <p:sp>
            <p:nvSpPr>
              <p:cNvPr id="56" name="Oval 7">
                <a:extLst>
                  <a:ext uri="{FF2B5EF4-FFF2-40B4-BE49-F238E27FC236}">
                    <a16:creationId xmlns:a16="http://schemas.microsoft.com/office/drawing/2014/main" id="{BFA1EB33-5D64-7D44-BCA2-E721C847A2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27" y="1633"/>
                <a:ext cx="450" cy="462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800" b="1" dirty="0">
                    <a:solidFill>
                      <a:srgbClr val="0070C0"/>
                    </a:solidFill>
                  </a:rPr>
                  <a:t>F</a:t>
                </a:r>
              </a:p>
            </p:txBody>
          </p:sp>
          <p:sp>
            <p:nvSpPr>
              <p:cNvPr id="57" name="Oval 8">
                <a:extLst>
                  <a:ext uri="{FF2B5EF4-FFF2-40B4-BE49-F238E27FC236}">
                    <a16:creationId xmlns:a16="http://schemas.microsoft.com/office/drawing/2014/main" id="{F0C3C211-9CAA-7843-BA28-BF56405374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77" y="2713"/>
                <a:ext cx="450" cy="463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800" b="1" dirty="0">
                    <a:solidFill>
                      <a:srgbClr val="0070C0"/>
                    </a:solidFill>
                  </a:rPr>
                  <a:t>G</a:t>
                </a:r>
              </a:p>
            </p:txBody>
          </p:sp>
          <p:sp>
            <p:nvSpPr>
              <p:cNvPr id="58" name="Oval 9">
                <a:extLst>
                  <a:ext uri="{FF2B5EF4-FFF2-40B4-BE49-F238E27FC236}">
                    <a16:creationId xmlns:a16="http://schemas.microsoft.com/office/drawing/2014/main" id="{31DF9FE5-1C1E-5B46-86CB-A699EE6FF9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7" y="2713"/>
                <a:ext cx="450" cy="463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800" b="1" dirty="0">
                    <a:solidFill>
                      <a:srgbClr val="0070C0"/>
                    </a:solidFill>
                  </a:rPr>
                  <a:t>B</a:t>
                </a:r>
              </a:p>
            </p:txBody>
          </p:sp>
          <p:sp>
            <p:nvSpPr>
              <p:cNvPr id="59" name="Oval 10">
                <a:extLst>
                  <a:ext uri="{FF2B5EF4-FFF2-40B4-BE49-F238E27FC236}">
                    <a16:creationId xmlns:a16="http://schemas.microsoft.com/office/drawing/2014/main" id="{B287FAE4-6DEA-9342-AD1E-789A1A9D31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7" y="2713"/>
                <a:ext cx="450" cy="464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800" b="1" dirty="0">
                    <a:solidFill>
                      <a:srgbClr val="0070C0"/>
                    </a:solidFill>
                  </a:rPr>
                  <a:t>E</a:t>
                </a:r>
              </a:p>
            </p:txBody>
          </p:sp>
          <p:sp>
            <p:nvSpPr>
              <p:cNvPr id="60" name="Oval 11">
                <a:extLst>
                  <a:ext uri="{FF2B5EF4-FFF2-40B4-BE49-F238E27FC236}">
                    <a16:creationId xmlns:a16="http://schemas.microsoft.com/office/drawing/2014/main" id="{05E3CC92-C392-E746-B6E0-C7EC084F42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27" y="3793"/>
                <a:ext cx="450" cy="463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800" b="1" dirty="0">
                    <a:solidFill>
                      <a:srgbClr val="0070C0"/>
                    </a:solidFill>
                  </a:rPr>
                  <a:t>D</a:t>
                </a:r>
              </a:p>
            </p:txBody>
          </p:sp>
          <p:sp>
            <p:nvSpPr>
              <p:cNvPr id="61" name="Oval 12">
                <a:extLst>
                  <a:ext uri="{FF2B5EF4-FFF2-40B4-BE49-F238E27FC236}">
                    <a16:creationId xmlns:a16="http://schemas.microsoft.com/office/drawing/2014/main" id="{6A67DBC7-79AB-C64A-A439-17A2554A83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27" y="3793"/>
                <a:ext cx="450" cy="463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 sz="1800" b="1" dirty="0">
                    <a:solidFill>
                      <a:srgbClr val="0070C0"/>
                    </a:solidFill>
                  </a:rPr>
                  <a:t>C</a:t>
                </a:r>
              </a:p>
            </p:txBody>
          </p:sp>
          <p:sp>
            <p:nvSpPr>
              <p:cNvPr id="62" name="Line 13">
                <a:extLst>
                  <a:ext uri="{FF2B5EF4-FFF2-40B4-BE49-F238E27FC236}">
                    <a16:creationId xmlns:a16="http://schemas.microsoft.com/office/drawing/2014/main" id="{01724F10-61F7-2E48-ADE8-F23442CEEA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327" y="2096"/>
                <a:ext cx="600" cy="61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3" name="Line 14">
                <a:extLst>
                  <a:ext uri="{FF2B5EF4-FFF2-40B4-BE49-F238E27FC236}">
                    <a16:creationId xmlns:a16="http://schemas.microsoft.com/office/drawing/2014/main" id="{32F49271-A9E1-BE40-A03E-6F80C84FE6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7" y="3176"/>
                <a:ext cx="750" cy="61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4" name="Line 15">
                <a:extLst>
                  <a:ext uri="{FF2B5EF4-FFF2-40B4-BE49-F238E27FC236}">
                    <a16:creationId xmlns:a16="http://schemas.microsoft.com/office/drawing/2014/main" id="{20EED1DB-6439-C943-B9DA-0FF300365F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27" y="1941"/>
                <a:ext cx="1200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5" name="Line 16">
                <a:extLst>
                  <a:ext uri="{FF2B5EF4-FFF2-40B4-BE49-F238E27FC236}">
                    <a16:creationId xmlns:a16="http://schemas.microsoft.com/office/drawing/2014/main" id="{21EDB1A2-50EC-BA45-960D-B420BEAE94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77" y="3947"/>
                <a:ext cx="1050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6" name="Line 17">
                <a:extLst>
                  <a:ext uri="{FF2B5EF4-FFF2-40B4-BE49-F238E27FC236}">
                    <a16:creationId xmlns:a16="http://schemas.microsoft.com/office/drawing/2014/main" id="{216C9093-74CC-8747-A928-CF6AEB1411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727" y="3176"/>
                <a:ext cx="750" cy="61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7" name="Line 18">
                <a:extLst>
                  <a:ext uri="{FF2B5EF4-FFF2-40B4-BE49-F238E27FC236}">
                    <a16:creationId xmlns:a16="http://schemas.microsoft.com/office/drawing/2014/main" id="{3643DED1-28FE-DE4D-8414-2F12FBF5A0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77" y="1941"/>
                <a:ext cx="600" cy="77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8" name="Line 19">
                <a:extLst>
                  <a:ext uri="{FF2B5EF4-FFF2-40B4-BE49-F238E27FC236}">
                    <a16:creationId xmlns:a16="http://schemas.microsoft.com/office/drawing/2014/main" id="{AAE87870-425A-934C-8255-CB64889F8E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977" y="2096"/>
                <a:ext cx="600" cy="61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9" name="Line 20">
                <a:extLst>
                  <a:ext uri="{FF2B5EF4-FFF2-40B4-BE49-F238E27FC236}">
                    <a16:creationId xmlns:a16="http://schemas.microsoft.com/office/drawing/2014/main" id="{451FA0F3-528B-B944-A171-57F34A8B2B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227" y="3021"/>
                <a:ext cx="450" cy="77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70" name="Line 21">
                <a:extLst>
                  <a:ext uri="{FF2B5EF4-FFF2-40B4-BE49-F238E27FC236}">
                    <a16:creationId xmlns:a16="http://schemas.microsoft.com/office/drawing/2014/main" id="{C7CCE6D8-F2A4-4142-974F-26EC0CF97D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7" y="2096"/>
                <a:ext cx="750" cy="617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71" name="Line 22">
                <a:extLst>
                  <a:ext uri="{FF2B5EF4-FFF2-40B4-BE49-F238E27FC236}">
                    <a16:creationId xmlns:a16="http://schemas.microsoft.com/office/drawing/2014/main" id="{C1B7B637-6772-7E45-A64C-3617D30BF4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27" y="2867"/>
                <a:ext cx="1200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72" name="Line 23">
                <a:extLst>
                  <a:ext uri="{FF2B5EF4-FFF2-40B4-BE49-F238E27FC236}">
                    <a16:creationId xmlns:a16="http://schemas.microsoft.com/office/drawing/2014/main" id="{399CB374-DE46-7941-9DC1-2FF78F6F72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77" y="2867"/>
                <a:ext cx="1200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73" name="Line 24">
                <a:extLst>
                  <a:ext uri="{FF2B5EF4-FFF2-40B4-BE49-F238E27FC236}">
                    <a16:creationId xmlns:a16="http://schemas.microsoft.com/office/drawing/2014/main" id="{0D26465B-1283-3646-9159-B91BF380FF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977" y="3176"/>
                <a:ext cx="600" cy="61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sp>
          <p:nvSpPr>
            <p:cNvPr id="31" name="Text Box 25">
              <a:extLst>
                <a:ext uri="{FF2B5EF4-FFF2-40B4-BE49-F238E27FC236}">
                  <a16:creationId xmlns:a16="http://schemas.microsoft.com/office/drawing/2014/main" id="{74B680B1-7B36-7443-A5C5-0BAC9B29A8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1245" y="2755993"/>
              <a:ext cx="165811" cy="1957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2</a:t>
              </a:r>
            </a:p>
          </p:txBody>
        </p:sp>
        <p:sp>
          <p:nvSpPr>
            <p:cNvPr id="32" name="Text Box 26">
              <a:extLst>
                <a:ext uri="{FF2B5EF4-FFF2-40B4-BE49-F238E27FC236}">
                  <a16:creationId xmlns:a16="http://schemas.microsoft.com/office/drawing/2014/main" id="{7ECBEB04-34F3-F94B-9B70-4AAB4F993E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5894" y="2434913"/>
              <a:ext cx="165811" cy="1957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3</a:t>
              </a:r>
            </a:p>
          </p:txBody>
        </p:sp>
        <p:sp>
          <p:nvSpPr>
            <p:cNvPr id="33" name="Text Box 27">
              <a:extLst>
                <a:ext uri="{FF2B5EF4-FFF2-40B4-BE49-F238E27FC236}">
                  <a16:creationId xmlns:a16="http://schemas.microsoft.com/office/drawing/2014/main" id="{98C9A13C-B5F8-AD42-9368-1FB73CD1C1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5830" y="3403623"/>
              <a:ext cx="165811" cy="1957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1</a:t>
              </a:r>
            </a:p>
          </p:txBody>
        </p:sp>
        <p:sp>
          <p:nvSpPr>
            <p:cNvPr id="34" name="Text Box 28">
              <a:extLst>
                <a:ext uri="{FF2B5EF4-FFF2-40B4-BE49-F238E27FC236}">
                  <a16:creationId xmlns:a16="http://schemas.microsoft.com/office/drawing/2014/main" id="{217F59E1-2311-324F-A14E-01A820308F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60103" y="3247603"/>
              <a:ext cx="165811" cy="1957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5</a:t>
              </a:r>
            </a:p>
          </p:txBody>
        </p:sp>
        <p:sp>
          <p:nvSpPr>
            <p:cNvPr id="35" name="Text Box 29">
              <a:extLst>
                <a:ext uri="{FF2B5EF4-FFF2-40B4-BE49-F238E27FC236}">
                  <a16:creationId xmlns:a16="http://schemas.microsoft.com/office/drawing/2014/main" id="{03736022-25D3-F540-9DAB-9CE22B5671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24529" y="2800350"/>
              <a:ext cx="165811" cy="1957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1</a:t>
              </a:r>
            </a:p>
          </p:txBody>
        </p:sp>
        <p:sp>
          <p:nvSpPr>
            <p:cNvPr id="36" name="Text Box 30">
              <a:extLst>
                <a:ext uri="{FF2B5EF4-FFF2-40B4-BE49-F238E27FC236}">
                  <a16:creationId xmlns:a16="http://schemas.microsoft.com/office/drawing/2014/main" id="{CED1F69C-FCCC-C44E-BD68-D1F61C36A4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6973" y="2623797"/>
              <a:ext cx="165811" cy="1957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2</a:t>
              </a:r>
            </a:p>
          </p:txBody>
        </p:sp>
        <p:sp>
          <p:nvSpPr>
            <p:cNvPr id="52" name="Text Box 31">
              <a:extLst>
                <a:ext uri="{FF2B5EF4-FFF2-40B4-BE49-F238E27FC236}">
                  <a16:creationId xmlns:a16="http://schemas.microsoft.com/office/drawing/2014/main" id="{0ECC594D-A1CB-9C42-917F-6E2C07F5D5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03144" y="3400069"/>
              <a:ext cx="165811" cy="1957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2</a:t>
              </a:r>
            </a:p>
          </p:txBody>
        </p:sp>
        <p:sp>
          <p:nvSpPr>
            <p:cNvPr id="53" name="Text Box 32">
              <a:extLst>
                <a:ext uri="{FF2B5EF4-FFF2-40B4-BE49-F238E27FC236}">
                  <a16:creationId xmlns:a16="http://schemas.microsoft.com/office/drawing/2014/main" id="{AE82AD93-8CC3-0C4B-81EB-73E7555947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61023" y="3370302"/>
              <a:ext cx="165811" cy="1957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0070C0"/>
                  </a:solidFill>
                </a:rPr>
                <a:t>4</a:t>
              </a:r>
            </a:p>
          </p:txBody>
        </p:sp>
      </p:grp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15285AE-D51A-FB1C-B38D-43E8437B0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29600" y="6381750"/>
            <a:ext cx="571500" cy="476250"/>
          </a:xfrm>
        </p:spPr>
        <p:txBody>
          <a:bodyPr/>
          <a:lstStyle/>
          <a:p>
            <a:fld id="{394AF792-64ED-AA4F-A66F-08715B4E6CC3}" type="slidenum">
              <a:rPr lang="en-US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9607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Graph representation – undirected</a:t>
            </a:r>
          </a:p>
        </p:txBody>
      </p:sp>
      <p:pic>
        <p:nvPicPr>
          <p:cNvPr id="6149" name="Picture 8" descr="Click to collapse"/>
          <p:cNvPicPr>
            <a:picLocks noChangeAspect="1" noChangeArrowheads="1"/>
          </p:cNvPicPr>
          <p:nvPr/>
        </p:nvPicPr>
        <p:blipFill rotWithShape="1">
          <a:blip r:embed="rId2" cstate="print"/>
          <a:srcRect t="18342" r="77393"/>
          <a:stretch/>
        </p:blipFill>
        <p:spPr bwMode="auto">
          <a:xfrm>
            <a:off x="639288" y="1594995"/>
            <a:ext cx="1975262" cy="17458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50" name="Text Box 9"/>
          <p:cNvSpPr txBox="1">
            <a:spLocks noChangeArrowheads="1"/>
          </p:cNvSpPr>
          <p:nvPr/>
        </p:nvSpPr>
        <p:spPr bwMode="auto">
          <a:xfrm>
            <a:off x="1096488" y="3517152"/>
            <a:ext cx="10608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solidFill>
                  <a:schemeClr val="tx2"/>
                </a:solidFill>
              </a:rPr>
              <a:t>graph</a:t>
            </a:r>
          </a:p>
        </p:txBody>
      </p:sp>
      <p:sp>
        <p:nvSpPr>
          <p:cNvPr id="6151" name="Text Box 10"/>
          <p:cNvSpPr txBox="1">
            <a:spLocks noChangeArrowheads="1"/>
          </p:cNvSpPr>
          <p:nvPr/>
        </p:nvSpPr>
        <p:spPr bwMode="auto">
          <a:xfrm>
            <a:off x="5822887" y="3517153"/>
            <a:ext cx="1981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solidFill>
                  <a:schemeClr val="tx2"/>
                </a:solidFill>
              </a:rPr>
              <a:t>Adjacency list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98759A1-AC7F-8448-F589-984A2EDE5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29600" y="6381750"/>
            <a:ext cx="571500" cy="476250"/>
          </a:xfrm>
        </p:spPr>
        <p:txBody>
          <a:bodyPr/>
          <a:lstStyle/>
          <a:p>
            <a:fld id="{394AF792-64ED-AA4F-A66F-08715B4E6CC3}" type="slidenum">
              <a:rPr lang="en-US"/>
              <a:pPr/>
              <a:t>16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3DFA775-B60C-3D59-4D40-A3A338502C13}"/>
              </a:ext>
            </a:extLst>
          </p:cNvPr>
          <p:cNvGrpSpPr/>
          <p:nvPr/>
        </p:nvGrpSpPr>
        <p:grpSpPr>
          <a:xfrm>
            <a:off x="2102540" y="4287656"/>
            <a:ext cx="4196317" cy="2138012"/>
            <a:chOff x="2102540" y="4243738"/>
            <a:chExt cx="4196317" cy="2138012"/>
          </a:xfrm>
        </p:grpSpPr>
        <p:sp>
          <p:nvSpPr>
            <p:cNvPr id="6152" name="Text Box 11"/>
            <p:cNvSpPr txBox="1">
              <a:spLocks noChangeArrowheads="1"/>
            </p:cNvSpPr>
            <p:nvPr/>
          </p:nvSpPr>
          <p:spPr bwMode="auto">
            <a:xfrm>
              <a:off x="4317657" y="5129387"/>
              <a:ext cx="19812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dirty="0">
                  <a:solidFill>
                    <a:schemeClr val="tx2"/>
                  </a:solidFill>
                </a:rPr>
                <a:t>Adjacency matrix</a:t>
              </a:r>
            </a:p>
          </p:txBody>
        </p:sp>
        <p:pic>
          <p:nvPicPr>
            <p:cNvPr id="3" name="Picture 8" descr="Click to collapse">
              <a:extLst>
                <a:ext uri="{FF2B5EF4-FFF2-40B4-BE49-F238E27FC236}">
                  <a16:creationId xmlns:a16="http://schemas.microsoft.com/office/drawing/2014/main" id="{FE32967C-E642-D0D8-BCBC-4194BEFC187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/>
            <a:srcRect l="78343"/>
            <a:stretch/>
          </p:blipFill>
          <p:spPr bwMode="auto">
            <a:xfrm>
              <a:off x="2102540" y="4243738"/>
              <a:ext cx="1892243" cy="21380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4" name="Picture 8" descr="Click to collapse">
            <a:extLst>
              <a:ext uri="{FF2B5EF4-FFF2-40B4-BE49-F238E27FC236}">
                <a16:creationId xmlns:a16="http://schemas.microsoft.com/office/drawing/2014/main" id="{21BA6123-DCD5-BB28-FA77-E1963A0BAA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/>
          <a:srcRect l="28903" r="28211"/>
          <a:stretch/>
        </p:blipFill>
        <p:spPr bwMode="auto">
          <a:xfrm>
            <a:off x="4939907" y="1202836"/>
            <a:ext cx="3747160" cy="2138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881304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Nyhoff, ADTs, Data Structures and Problem Solving with C++, Second Edition, © 2005 Pearson Education, Inc. All rights reserved. 0-13-140909-3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1440B-0690-FB4E-8D8A-81CAF946A069}" type="slidenum">
              <a:rPr lang="en-US"/>
              <a:pPr/>
              <a:t>17</a:t>
            </a:fld>
            <a:endParaRPr lang="en-US"/>
          </a:p>
        </p:txBody>
      </p:sp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928"/>
            <a:ext cx="8229600" cy="713903"/>
          </a:xfrm>
        </p:spPr>
        <p:txBody>
          <a:bodyPr/>
          <a:lstStyle/>
          <a:p>
            <a:r>
              <a:rPr lang="en-US" dirty="0"/>
              <a:t>Directed Graphs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" y="886296"/>
            <a:ext cx="8686800" cy="2982441"/>
          </a:xfrm>
        </p:spPr>
        <p:txBody>
          <a:bodyPr/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Applications of </a:t>
            </a:r>
            <a:r>
              <a:rPr lang="en-US" dirty="0">
                <a:solidFill>
                  <a:srgbClr val="0070C0"/>
                </a:solidFill>
              </a:rPr>
              <a:t>directed graphs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/>
              <a:t>Analyze </a:t>
            </a:r>
            <a:r>
              <a:rPr lang="en-US" dirty="0">
                <a:solidFill>
                  <a:srgbClr val="0070C0"/>
                </a:solidFill>
              </a:rPr>
              <a:t>electrical circuits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/>
              <a:t>Find </a:t>
            </a:r>
            <a:r>
              <a:rPr lang="en-US" dirty="0">
                <a:solidFill>
                  <a:srgbClr val="0070C0"/>
                </a:solidFill>
              </a:rPr>
              <a:t>shortest routes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/>
              <a:t>Develop </a:t>
            </a:r>
            <a:r>
              <a:rPr lang="en-US" dirty="0">
                <a:solidFill>
                  <a:srgbClr val="0070C0"/>
                </a:solidFill>
              </a:rPr>
              <a:t>project schedules</a:t>
            </a:r>
          </a:p>
        </p:txBody>
      </p:sp>
      <p:pic>
        <p:nvPicPr>
          <p:cNvPr id="5632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42181" y="4122738"/>
            <a:ext cx="7259638" cy="2259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Nyhoff, ADTs, Data Structures and Problem Solving with C++, Second Edition, © 2005 Pearson Education, Inc. All rights reserved. 0-13-140909-3 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E2FFA-F10B-1544-8B64-DB8BEF026B87}" type="slidenum">
              <a:rPr lang="en-US"/>
              <a:pPr/>
              <a:t>18</a:t>
            </a:fld>
            <a:endParaRPr lang="en-US"/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9858"/>
            <a:ext cx="8229600" cy="706023"/>
          </a:xfrm>
        </p:spPr>
        <p:txBody>
          <a:bodyPr/>
          <a:lstStyle/>
          <a:p>
            <a:r>
              <a:rPr lang="en-US" dirty="0"/>
              <a:t>Directed Graphs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803032"/>
            <a:ext cx="8686800" cy="5635868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Trees are special kinds of directed graphs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/>
              <a:t>One of their nodes (the </a:t>
            </a:r>
            <a:r>
              <a:rPr lang="en-US" dirty="0">
                <a:solidFill>
                  <a:srgbClr val="0070C0"/>
                </a:solidFill>
              </a:rPr>
              <a:t>root</a:t>
            </a:r>
            <a:r>
              <a:rPr lang="en-US" dirty="0"/>
              <a:t>) has </a:t>
            </a:r>
            <a:r>
              <a:rPr lang="en-US" dirty="0">
                <a:solidFill>
                  <a:srgbClr val="0070C0"/>
                </a:solidFill>
              </a:rPr>
              <a:t>no incoming </a:t>
            </a:r>
            <a:r>
              <a:rPr lang="en-US" dirty="0"/>
              <a:t>arc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/>
              <a:t>Every other node can be reached from the node by a </a:t>
            </a:r>
            <a:r>
              <a:rPr lang="en-US" dirty="0">
                <a:solidFill>
                  <a:srgbClr val="0070C0"/>
                </a:solidFill>
              </a:rPr>
              <a:t>unique path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Graphs differ from trees as </a:t>
            </a:r>
            <a:r>
              <a:rPr lang="en-US" dirty="0" err="1"/>
              <a:t>ADTs</a:t>
            </a:r>
            <a:endParaRPr lang="en-US" dirty="0"/>
          </a:p>
          <a:p>
            <a:pPr lvl="1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/>
              <a:t>Insertion of a node </a:t>
            </a:r>
            <a:r>
              <a:rPr lang="en-US" dirty="0">
                <a:solidFill>
                  <a:srgbClr val="0070C0"/>
                </a:solidFill>
              </a:rPr>
              <a:t>does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not require a link </a:t>
            </a:r>
            <a:r>
              <a:rPr lang="en-US" dirty="0"/>
              <a:t>(arc) to other nodes … or </a:t>
            </a:r>
            <a:r>
              <a:rPr lang="en-US" dirty="0">
                <a:solidFill>
                  <a:srgbClr val="0070C0"/>
                </a:solidFill>
              </a:rPr>
              <a:t>may have multiple arcs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>
                <a:solidFill>
                  <a:srgbClr val="0070C0"/>
                </a:solidFill>
              </a:rPr>
              <a:t>Deletion</a:t>
            </a:r>
            <a:r>
              <a:rPr lang="en-US" dirty="0"/>
              <a:t> operation may apply either to </a:t>
            </a:r>
            <a:r>
              <a:rPr lang="en-US" dirty="0">
                <a:solidFill>
                  <a:srgbClr val="0070C0"/>
                </a:solidFill>
              </a:rPr>
              <a:t>nodes or edges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Nyhoff, ADTs, Data Structures and Problem Solving with C++, Second Edition, © 2005 Pearson Education, Inc. All rights reserved. 0-13-140909-3 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E4997-64D7-AC41-8850-B3FD4B47CEF8}" type="slidenum">
              <a:rPr lang="en-US"/>
              <a:pPr/>
              <a:t>19</a:t>
            </a:fld>
            <a:endParaRPr lang="en-US"/>
          </a:p>
        </p:txBody>
      </p:sp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500"/>
            <a:ext cx="8229600" cy="682832"/>
          </a:xfrm>
        </p:spPr>
        <p:txBody>
          <a:bodyPr/>
          <a:lstStyle/>
          <a:p>
            <a:r>
              <a:rPr lang="en-US" dirty="0"/>
              <a:t>Directed Graphs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1850" y="767482"/>
            <a:ext cx="8513805" cy="567141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dirty="0"/>
              <a:t>A directed graph is </a:t>
            </a:r>
            <a:r>
              <a:rPr lang="en-US" sz="2800" dirty="0">
                <a:solidFill>
                  <a:srgbClr val="0070C0"/>
                </a:solidFill>
              </a:rPr>
              <a:t>defined</a:t>
            </a:r>
            <a:r>
              <a:rPr lang="en-US" sz="2800" dirty="0"/>
              <a:t> as a collection of </a:t>
            </a:r>
            <a:r>
              <a:rPr lang="en-US" sz="2800" dirty="0">
                <a:solidFill>
                  <a:srgbClr val="0070C0"/>
                </a:solidFill>
              </a:rPr>
              <a:t>data elements</a:t>
            </a:r>
            <a:r>
              <a:rPr lang="en-US" sz="2800" dirty="0"/>
              <a:t>: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dirty="0"/>
              <a:t>Called </a:t>
            </a:r>
            <a:r>
              <a:rPr lang="en-US" sz="2400" dirty="0">
                <a:solidFill>
                  <a:srgbClr val="0070C0"/>
                </a:solidFill>
              </a:rPr>
              <a:t>nodes</a:t>
            </a:r>
            <a:r>
              <a:rPr lang="en-US" sz="2400" dirty="0"/>
              <a:t> or vertices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dirty="0"/>
              <a:t>And a finite set of </a:t>
            </a:r>
            <a:r>
              <a:rPr lang="en-US" sz="2400" dirty="0">
                <a:solidFill>
                  <a:srgbClr val="0070C0"/>
                </a:solidFill>
              </a:rPr>
              <a:t>direct arcs or edges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dirty="0"/>
              <a:t>The edges connect </a:t>
            </a:r>
            <a:r>
              <a:rPr lang="en-US" sz="2400" dirty="0">
                <a:solidFill>
                  <a:srgbClr val="0070C0"/>
                </a:solidFill>
              </a:rPr>
              <a:t>pairs of nodes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dirty="0">
                <a:solidFill>
                  <a:srgbClr val="0070C0"/>
                </a:solidFill>
              </a:rPr>
              <a:t>Operations</a:t>
            </a:r>
            <a:r>
              <a:rPr lang="en-US" sz="2800" dirty="0"/>
              <a:t> include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dirty="0"/>
              <a:t>Constructors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dirty="0"/>
              <a:t>Inserts of </a:t>
            </a:r>
            <a:r>
              <a:rPr lang="en-US" sz="2400" dirty="0">
                <a:solidFill>
                  <a:srgbClr val="0070C0"/>
                </a:solidFill>
              </a:rPr>
              <a:t>nodes, of edges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dirty="0"/>
              <a:t>Deletions of </a:t>
            </a:r>
            <a:r>
              <a:rPr lang="en-US" sz="2400" dirty="0">
                <a:solidFill>
                  <a:srgbClr val="0070C0"/>
                </a:solidFill>
              </a:rPr>
              <a:t>nodes, edges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dirty="0">
                <a:solidFill>
                  <a:srgbClr val="0070C0"/>
                </a:solidFill>
              </a:rPr>
              <a:t>Search</a:t>
            </a:r>
            <a:r>
              <a:rPr lang="en-US" sz="2400" dirty="0"/>
              <a:t> for a value in a node, </a:t>
            </a:r>
            <a:r>
              <a:rPr lang="en-US" sz="2400" dirty="0">
                <a:solidFill>
                  <a:srgbClr val="0070C0"/>
                </a:solidFill>
              </a:rPr>
              <a:t>starting</a:t>
            </a:r>
            <a:r>
              <a:rPr lang="en-US" sz="2400" dirty="0"/>
              <a:t> from a given node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Nyhoff, ADTs, Data Structures and Problem Solving with C++, Second Edition, © 2005 Pearson Education, Inc. All rights reserved. 0-13-140909-3 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DAABE-4B80-124F-A701-0AA8C26A89BE}" type="slidenum">
              <a:rPr lang="en-US"/>
              <a:pPr/>
              <a:t>20</a:t>
            </a:fld>
            <a:endParaRPr lang="en-US"/>
          </a:p>
        </p:txBody>
      </p:sp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2215"/>
            <a:ext cx="8229600" cy="775686"/>
          </a:xfrm>
        </p:spPr>
        <p:txBody>
          <a:bodyPr/>
          <a:lstStyle/>
          <a:p>
            <a:r>
              <a:rPr lang="en-US" dirty="0"/>
              <a:t>Graph Representation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27901"/>
            <a:ext cx="7997687" cy="555384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u="sng" dirty="0">
                <a:solidFill>
                  <a:srgbClr val="FF0000"/>
                </a:solidFill>
              </a:rPr>
              <a:t>Adjacency matrix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representation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/>
              <a:t>for directed graph with vertices numbered</a:t>
            </a:r>
            <a:br>
              <a:rPr lang="en-US" dirty="0"/>
            </a:br>
            <a:r>
              <a:rPr lang="en-US" dirty="0"/>
              <a:t>    </a:t>
            </a:r>
            <a:r>
              <a:rPr lang="en-US" sz="3200" b="1" dirty="0">
                <a:solidFill>
                  <a:srgbClr val="6666FF"/>
                </a:solidFill>
                <a:latin typeface="Courier New" pitchFamily="4" charset="0"/>
              </a:rPr>
              <a:t>1, 2, … n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Defined as  </a:t>
            </a:r>
            <a:r>
              <a:rPr lang="en-US" b="1" dirty="0">
                <a:solidFill>
                  <a:srgbClr val="6666FF"/>
                </a:solidFill>
                <a:latin typeface="Courier New" pitchFamily="4" charset="0"/>
              </a:rPr>
              <a:t>n</a:t>
            </a:r>
            <a:r>
              <a:rPr lang="en-US" dirty="0"/>
              <a:t> by </a:t>
            </a:r>
            <a:r>
              <a:rPr lang="en-US" b="1" dirty="0">
                <a:solidFill>
                  <a:srgbClr val="6666FF"/>
                </a:solidFill>
                <a:latin typeface="Courier New" pitchFamily="4" charset="0"/>
              </a:rPr>
              <a:t>n</a:t>
            </a:r>
            <a:r>
              <a:rPr lang="en-US" dirty="0"/>
              <a:t> matrix named </a:t>
            </a:r>
            <a:r>
              <a:rPr lang="en-US" b="1" dirty="0">
                <a:solidFill>
                  <a:srgbClr val="6666FF"/>
                </a:solidFill>
                <a:latin typeface="Courier New" pitchFamily="4" charset="0"/>
              </a:rPr>
              <a:t>adj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The </a:t>
            </a:r>
            <a:r>
              <a:rPr lang="en-US" b="1" dirty="0">
                <a:solidFill>
                  <a:srgbClr val="6666FF"/>
                </a:solidFill>
                <a:latin typeface="Courier New" pitchFamily="4" charset="0"/>
              </a:rPr>
              <a:t>[</a:t>
            </a:r>
            <a:r>
              <a:rPr lang="en-US" b="1" dirty="0" err="1">
                <a:solidFill>
                  <a:srgbClr val="6666FF"/>
                </a:solidFill>
                <a:latin typeface="Courier New" pitchFamily="4" charset="0"/>
              </a:rPr>
              <a:t>i</a:t>
            </a:r>
            <a:r>
              <a:rPr lang="en-US" b="1" dirty="0">
                <a:solidFill>
                  <a:srgbClr val="6666FF"/>
                </a:solidFill>
                <a:latin typeface="Courier New" pitchFamily="4" charset="0"/>
              </a:rPr>
              <a:t>, j]</a:t>
            </a:r>
            <a:r>
              <a:rPr lang="en-US" dirty="0"/>
              <a:t> entry set to 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3200" b="1" dirty="0">
                <a:solidFill>
                  <a:srgbClr val="6666FF"/>
                </a:solidFill>
                <a:latin typeface="Courier New" pitchFamily="4" charset="0"/>
              </a:rPr>
              <a:t>1</a:t>
            </a:r>
            <a:r>
              <a:rPr lang="en-US" dirty="0"/>
              <a:t> (true) if vertex </a:t>
            </a:r>
            <a:r>
              <a:rPr lang="en-US" sz="3200" b="1" dirty="0">
                <a:solidFill>
                  <a:srgbClr val="6666FF"/>
                </a:solidFill>
                <a:latin typeface="Courier New" pitchFamily="4" charset="0"/>
              </a:rPr>
              <a:t>j</a:t>
            </a:r>
            <a:r>
              <a:rPr lang="en-US" dirty="0"/>
              <a:t> is adjacent to vertex </a:t>
            </a:r>
            <a:r>
              <a:rPr lang="en-US" sz="3200" b="1" dirty="0" err="1">
                <a:solidFill>
                  <a:srgbClr val="6666FF"/>
                </a:solidFill>
                <a:latin typeface="Courier New" pitchFamily="4" charset="0"/>
              </a:rPr>
              <a:t>i</a:t>
            </a:r>
            <a:br>
              <a:rPr lang="en-US" sz="3200" b="1" dirty="0">
                <a:solidFill>
                  <a:srgbClr val="6666FF"/>
                </a:solidFill>
                <a:latin typeface="Courier New" pitchFamily="4" charset="0"/>
              </a:rPr>
            </a:br>
            <a:r>
              <a:rPr lang="en-US" dirty="0"/>
              <a:t>(there is a </a:t>
            </a:r>
            <a:r>
              <a:rPr lang="en-US" dirty="0">
                <a:solidFill>
                  <a:srgbClr val="0070C0"/>
                </a:solidFill>
              </a:rPr>
              <a:t>directed edge</a:t>
            </a:r>
            <a:r>
              <a:rPr lang="en-US" dirty="0"/>
              <a:t> from </a:t>
            </a:r>
            <a:r>
              <a:rPr lang="en-US" sz="3200" b="1" dirty="0" err="1">
                <a:solidFill>
                  <a:srgbClr val="6666FF"/>
                </a:solidFill>
                <a:latin typeface="Courier New" pitchFamily="4" charset="0"/>
              </a:rPr>
              <a:t>i</a:t>
            </a:r>
            <a:r>
              <a:rPr lang="en-US" dirty="0"/>
              <a:t> to </a:t>
            </a:r>
            <a:r>
              <a:rPr lang="en-US" sz="3200" b="1" dirty="0">
                <a:solidFill>
                  <a:srgbClr val="6666FF"/>
                </a:solidFill>
                <a:latin typeface="Courier New" pitchFamily="4" charset="0"/>
              </a:rPr>
              <a:t>j</a:t>
            </a:r>
            <a:r>
              <a:rPr lang="en-US" dirty="0"/>
              <a:t>)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3200" b="1" dirty="0">
                <a:solidFill>
                  <a:srgbClr val="6666FF"/>
                </a:solidFill>
                <a:latin typeface="Courier New" pitchFamily="4" charset="0"/>
              </a:rPr>
              <a:t>0</a:t>
            </a:r>
            <a:r>
              <a:rPr lang="en-US" dirty="0"/>
              <a:t> (false) otherwise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Nyhoff, ADTs, Data Structures and Problem Solving with C++, Second Edition, © 2005 Pearson Education, Inc. All rights reserved. 0-13-140909-3 </a:t>
            </a:r>
          </a:p>
        </p:txBody>
      </p:sp>
      <p:sp>
        <p:nvSpPr>
          <p:cNvPr id="6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C6017-EDE2-1448-9BF7-C7B62BA23E9C}" type="slidenum">
              <a:rPr lang="en-US"/>
              <a:pPr/>
              <a:t>21</a:t>
            </a:fld>
            <a:endParaRPr lang="en-US"/>
          </a:p>
        </p:txBody>
      </p:sp>
      <p:pic>
        <p:nvPicPr>
          <p:cNvPr id="61531" name="Picture 9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8336" y="970417"/>
            <a:ext cx="2652621" cy="2519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</p:pic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1079"/>
            <a:ext cx="8229600" cy="719275"/>
          </a:xfrm>
        </p:spPr>
        <p:txBody>
          <a:bodyPr/>
          <a:lstStyle/>
          <a:p>
            <a:r>
              <a:rPr lang="en-US"/>
              <a:t>Graph Representation</a:t>
            </a:r>
          </a:p>
        </p:txBody>
      </p:sp>
      <p:graphicFrame>
        <p:nvGraphicFramePr>
          <p:cNvPr id="61473" name="Group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1662032"/>
              </p:ext>
            </p:extLst>
          </p:nvPr>
        </p:nvGraphicFramePr>
        <p:xfrm>
          <a:off x="1539572" y="2220611"/>
          <a:ext cx="3094037" cy="3108960"/>
        </p:xfrm>
        <a:graphic>
          <a:graphicData uri="http://schemas.openxmlformats.org/drawingml/2006/table">
            <a:tbl>
              <a:tblPr/>
              <a:tblGrid>
                <a:gridCol w="515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59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0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6666FF"/>
                          </a:solidFill>
                          <a:effectLst/>
                          <a:latin typeface="Arial" pitchFamily="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1524" name="Text Box 84"/>
          <p:cNvSpPr txBox="1">
            <a:spLocks noChangeArrowheads="1"/>
          </p:cNvSpPr>
          <p:nvPr/>
        </p:nvSpPr>
        <p:spPr bwMode="auto">
          <a:xfrm>
            <a:off x="156859" y="3519186"/>
            <a:ext cx="14049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rows   </a:t>
            </a:r>
            <a:r>
              <a:rPr lang="en-US" b="1" i="1"/>
              <a:t>i</a:t>
            </a:r>
          </a:p>
        </p:txBody>
      </p:sp>
      <p:sp>
        <p:nvSpPr>
          <p:cNvPr id="61525" name="Text Box 85"/>
          <p:cNvSpPr txBox="1">
            <a:spLocks noChangeArrowheads="1"/>
          </p:cNvSpPr>
          <p:nvPr/>
        </p:nvSpPr>
        <p:spPr bwMode="auto">
          <a:xfrm>
            <a:off x="2219022" y="1784049"/>
            <a:ext cx="185261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columns </a:t>
            </a:r>
            <a:r>
              <a:rPr lang="en-US" b="1" i="1"/>
              <a:t>j</a:t>
            </a:r>
            <a:endParaRPr lang="en-US"/>
          </a:p>
        </p:txBody>
      </p:sp>
      <p:sp>
        <p:nvSpPr>
          <p:cNvPr id="61526" name="Text Box 86"/>
          <p:cNvSpPr txBox="1">
            <a:spLocks noChangeArrowheads="1"/>
          </p:cNvSpPr>
          <p:nvPr/>
        </p:nvSpPr>
        <p:spPr bwMode="auto">
          <a:xfrm>
            <a:off x="6026150" y="4219575"/>
            <a:ext cx="2366963" cy="1328738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/>
              <a:t> Entry [ 1, 5 ] set to true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/>
              <a:t> Edge from vertex 1 to vertex 5</a:t>
            </a:r>
          </a:p>
        </p:txBody>
      </p:sp>
      <p:sp>
        <p:nvSpPr>
          <p:cNvPr id="61527" name="Line 87"/>
          <p:cNvSpPr>
            <a:spLocks noChangeShapeType="1"/>
          </p:cNvSpPr>
          <p:nvPr/>
        </p:nvSpPr>
        <p:spPr bwMode="auto">
          <a:xfrm flipH="1" flipV="1">
            <a:off x="4467226" y="3002691"/>
            <a:ext cx="1558924" cy="142802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1528" name="Freeform 88"/>
          <p:cNvSpPr>
            <a:spLocks/>
          </p:cNvSpPr>
          <p:nvPr/>
        </p:nvSpPr>
        <p:spPr bwMode="auto">
          <a:xfrm>
            <a:off x="7539038" y="1225549"/>
            <a:ext cx="1284287" cy="2947988"/>
          </a:xfrm>
          <a:custGeom>
            <a:avLst/>
            <a:gdLst>
              <a:gd name="connsiteX0" fmla="*/ 546 w 959"/>
              <a:gd name="connsiteY0" fmla="*/ 1779 h 1779"/>
              <a:gd name="connsiteX1" fmla="*/ 871 w 959"/>
              <a:gd name="connsiteY1" fmla="*/ 789 h 1779"/>
              <a:gd name="connsiteX2" fmla="*/ 841 w 959"/>
              <a:gd name="connsiteY2" fmla="*/ 110 h 1779"/>
              <a:gd name="connsiteX3" fmla="*/ 162 w 959"/>
              <a:gd name="connsiteY3" fmla="*/ 131 h 1779"/>
              <a:gd name="connsiteX4" fmla="*/ 0 w 959"/>
              <a:gd name="connsiteY4" fmla="*/ 361 h 1779"/>
              <a:gd name="connsiteX0" fmla="*/ 546 w 959"/>
              <a:gd name="connsiteY0" fmla="*/ 1779 h 1779"/>
              <a:gd name="connsiteX1" fmla="*/ 871 w 959"/>
              <a:gd name="connsiteY1" fmla="*/ 789 h 1779"/>
              <a:gd name="connsiteX2" fmla="*/ 841 w 959"/>
              <a:gd name="connsiteY2" fmla="*/ 110 h 1779"/>
              <a:gd name="connsiteX3" fmla="*/ 162 w 959"/>
              <a:gd name="connsiteY3" fmla="*/ 131 h 1779"/>
              <a:gd name="connsiteX4" fmla="*/ 0 w 959"/>
              <a:gd name="connsiteY4" fmla="*/ 194 h 1779"/>
              <a:gd name="connsiteX0" fmla="*/ 546 w 920"/>
              <a:gd name="connsiteY0" fmla="*/ 1857 h 1857"/>
              <a:gd name="connsiteX1" fmla="*/ 871 w 920"/>
              <a:gd name="connsiteY1" fmla="*/ 867 h 1857"/>
              <a:gd name="connsiteX2" fmla="*/ 841 w 920"/>
              <a:gd name="connsiteY2" fmla="*/ 188 h 1857"/>
              <a:gd name="connsiteX3" fmla="*/ 405 w 920"/>
              <a:gd name="connsiteY3" fmla="*/ 14 h 1857"/>
              <a:gd name="connsiteX4" fmla="*/ 0 w 920"/>
              <a:gd name="connsiteY4" fmla="*/ 272 h 1857"/>
              <a:gd name="connsiteX0" fmla="*/ 435 w 809"/>
              <a:gd name="connsiteY0" fmla="*/ 1857 h 1857"/>
              <a:gd name="connsiteX1" fmla="*/ 760 w 809"/>
              <a:gd name="connsiteY1" fmla="*/ 867 h 1857"/>
              <a:gd name="connsiteX2" fmla="*/ 730 w 809"/>
              <a:gd name="connsiteY2" fmla="*/ 188 h 1857"/>
              <a:gd name="connsiteX3" fmla="*/ 294 w 809"/>
              <a:gd name="connsiteY3" fmla="*/ 14 h 1857"/>
              <a:gd name="connsiteX4" fmla="*/ 0 w 809"/>
              <a:gd name="connsiteY4" fmla="*/ 272 h 1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9" h="1857">
                <a:moveTo>
                  <a:pt x="435" y="1857"/>
                </a:moveTo>
                <a:cubicBezTo>
                  <a:pt x="573" y="1501"/>
                  <a:pt x="711" y="1145"/>
                  <a:pt x="760" y="867"/>
                </a:cubicBezTo>
                <a:cubicBezTo>
                  <a:pt x="809" y="589"/>
                  <a:pt x="808" y="330"/>
                  <a:pt x="730" y="188"/>
                </a:cubicBezTo>
                <a:cubicBezTo>
                  <a:pt x="652" y="46"/>
                  <a:pt x="416" y="0"/>
                  <a:pt x="294" y="14"/>
                </a:cubicBezTo>
                <a:cubicBezTo>
                  <a:pt x="172" y="28"/>
                  <a:pt x="5" y="270"/>
                  <a:pt x="0" y="27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Text Box 86">
            <a:extLst>
              <a:ext uri="{FF2B5EF4-FFF2-40B4-BE49-F238E27FC236}">
                <a16:creationId xmlns:a16="http://schemas.microsoft.com/office/drawing/2014/main" id="{8C7D5407-53CF-446A-8EB0-A8D424F09D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0267" y="4236048"/>
            <a:ext cx="2366963" cy="1338828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dirty="0"/>
              <a:t> Entry [ 1, 4 ] set to false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dirty="0"/>
              <a:t> No Edge from vertex 1 to vertex 4</a:t>
            </a:r>
          </a:p>
        </p:txBody>
      </p:sp>
      <p:sp>
        <p:nvSpPr>
          <p:cNvPr id="3" name="Line 87">
            <a:extLst>
              <a:ext uri="{FF2B5EF4-FFF2-40B4-BE49-F238E27FC236}">
                <a16:creationId xmlns:a16="http://schemas.microsoft.com/office/drawing/2014/main" id="{955BD81E-341C-9DEF-CC74-DA73DB211B3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941805" y="3118445"/>
            <a:ext cx="2088462" cy="132873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Freeform 88">
            <a:extLst>
              <a:ext uri="{FF2B5EF4-FFF2-40B4-BE49-F238E27FC236}">
                <a16:creationId xmlns:a16="http://schemas.microsoft.com/office/drawing/2014/main" id="{9FC5DB6A-1CE2-1A53-B4F6-C996C6D63034}"/>
              </a:ext>
            </a:extLst>
          </p:cNvPr>
          <p:cNvSpPr>
            <a:spLocks/>
          </p:cNvSpPr>
          <p:nvPr/>
        </p:nvSpPr>
        <p:spPr bwMode="auto">
          <a:xfrm>
            <a:off x="7268519" y="1580188"/>
            <a:ext cx="1558923" cy="2609821"/>
          </a:xfrm>
          <a:custGeom>
            <a:avLst/>
            <a:gdLst>
              <a:gd name="connsiteX0" fmla="*/ 546 w 959"/>
              <a:gd name="connsiteY0" fmla="*/ 1779 h 1779"/>
              <a:gd name="connsiteX1" fmla="*/ 871 w 959"/>
              <a:gd name="connsiteY1" fmla="*/ 789 h 1779"/>
              <a:gd name="connsiteX2" fmla="*/ 841 w 959"/>
              <a:gd name="connsiteY2" fmla="*/ 110 h 1779"/>
              <a:gd name="connsiteX3" fmla="*/ 162 w 959"/>
              <a:gd name="connsiteY3" fmla="*/ 131 h 1779"/>
              <a:gd name="connsiteX4" fmla="*/ 0 w 959"/>
              <a:gd name="connsiteY4" fmla="*/ 361 h 1779"/>
              <a:gd name="connsiteX0" fmla="*/ 546 w 959"/>
              <a:gd name="connsiteY0" fmla="*/ 1779 h 1779"/>
              <a:gd name="connsiteX1" fmla="*/ 871 w 959"/>
              <a:gd name="connsiteY1" fmla="*/ 789 h 1779"/>
              <a:gd name="connsiteX2" fmla="*/ 841 w 959"/>
              <a:gd name="connsiteY2" fmla="*/ 110 h 1779"/>
              <a:gd name="connsiteX3" fmla="*/ 162 w 959"/>
              <a:gd name="connsiteY3" fmla="*/ 131 h 1779"/>
              <a:gd name="connsiteX4" fmla="*/ 0 w 959"/>
              <a:gd name="connsiteY4" fmla="*/ 194 h 1779"/>
              <a:gd name="connsiteX0" fmla="*/ 546 w 920"/>
              <a:gd name="connsiteY0" fmla="*/ 1857 h 1857"/>
              <a:gd name="connsiteX1" fmla="*/ 871 w 920"/>
              <a:gd name="connsiteY1" fmla="*/ 867 h 1857"/>
              <a:gd name="connsiteX2" fmla="*/ 841 w 920"/>
              <a:gd name="connsiteY2" fmla="*/ 188 h 1857"/>
              <a:gd name="connsiteX3" fmla="*/ 405 w 920"/>
              <a:gd name="connsiteY3" fmla="*/ 14 h 1857"/>
              <a:gd name="connsiteX4" fmla="*/ 0 w 920"/>
              <a:gd name="connsiteY4" fmla="*/ 272 h 1857"/>
              <a:gd name="connsiteX0" fmla="*/ 435 w 809"/>
              <a:gd name="connsiteY0" fmla="*/ 1857 h 1857"/>
              <a:gd name="connsiteX1" fmla="*/ 760 w 809"/>
              <a:gd name="connsiteY1" fmla="*/ 867 h 1857"/>
              <a:gd name="connsiteX2" fmla="*/ 730 w 809"/>
              <a:gd name="connsiteY2" fmla="*/ 188 h 1857"/>
              <a:gd name="connsiteX3" fmla="*/ 294 w 809"/>
              <a:gd name="connsiteY3" fmla="*/ 14 h 1857"/>
              <a:gd name="connsiteX4" fmla="*/ 0 w 809"/>
              <a:gd name="connsiteY4" fmla="*/ 272 h 1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9" h="1857">
                <a:moveTo>
                  <a:pt x="435" y="1857"/>
                </a:moveTo>
                <a:cubicBezTo>
                  <a:pt x="573" y="1501"/>
                  <a:pt x="711" y="1145"/>
                  <a:pt x="760" y="867"/>
                </a:cubicBezTo>
                <a:cubicBezTo>
                  <a:pt x="809" y="589"/>
                  <a:pt x="808" y="330"/>
                  <a:pt x="730" y="188"/>
                </a:cubicBezTo>
                <a:cubicBezTo>
                  <a:pt x="652" y="46"/>
                  <a:pt x="416" y="0"/>
                  <a:pt x="294" y="14"/>
                </a:cubicBezTo>
                <a:cubicBezTo>
                  <a:pt x="172" y="28"/>
                  <a:pt x="5" y="270"/>
                  <a:pt x="0" y="27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5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5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1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15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15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26" grpId="0" animBg="1"/>
      <p:bldP spid="61527" grpId="0" animBg="1"/>
      <p:bldP spid="61528" grpId="0" animBg="1"/>
      <p:bldP spid="2" grpId="0" animBg="1"/>
      <p:bldP spid="3" grpId="0" animBg="1"/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Nyhoff, ADTs, Data Structures and Problem Solving with C++, Second Edition, © 2005 Pearson Education, Inc. All rights reserved. 0-13-140909-3 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FF1A8-4B2B-1445-ABE7-83F7BE50E5C8}" type="slidenum">
              <a:rPr lang="en-US"/>
              <a:pPr/>
              <a:t>22</a:t>
            </a:fld>
            <a:endParaRPr lang="en-US"/>
          </a:p>
        </p:txBody>
      </p:sp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79519"/>
          </a:xfrm>
        </p:spPr>
        <p:txBody>
          <a:bodyPr/>
          <a:lstStyle/>
          <a:p>
            <a:r>
              <a:rPr lang="en-US" dirty="0"/>
              <a:t>Graph Representation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254" y="1364973"/>
            <a:ext cx="6904176" cy="4923461"/>
          </a:xfrm>
        </p:spPr>
        <p:txBody>
          <a:bodyPr/>
          <a:lstStyle/>
          <a:p>
            <a:pPr algn="just">
              <a:buFont typeface="Wingdings" pitchFamily="2" charset="2"/>
              <a:buChar char="Ø"/>
            </a:pPr>
            <a:r>
              <a:rPr lang="en-US" dirty="0">
                <a:solidFill>
                  <a:srgbClr val="FF0000"/>
                </a:solidFill>
              </a:rPr>
              <a:t>Weighted digraph</a:t>
            </a:r>
          </a:p>
          <a:p>
            <a:pPr lvl="1" algn="just">
              <a:buFont typeface="Wingdings" pitchFamily="2" charset="2"/>
              <a:buChar char="v"/>
            </a:pPr>
            <a:r>
              <a:rPr lang="en-US" dirty="0"/>
              <a:t>There exists a </a:t>
            </a:r>
            <a:r>
              <a:rPr lang="en-US" dirty="0">
                <a:solidFill>
                  <a:srgbClr val="0070C0"/>
                </a:solidFill>
              </a:rPr>
              <a:t>"cost" or "weight" </a:t>
            </a:r>
            <a:r>
              <a:rPr lang="en-US" dirty="0"/>
              <a:t>associated with </a:t>
            </a:r>
            <a:r>
              <a:rPr lang="en-US" dirty="0">
                <a:solidFill>
                  <a:srgbClr val="0070C0"/>
                </a:solidFill>
              </a:rPr>
              <a:t>each arc</a:t>
            </a:r>
          </a:p>
          <a:p>
            <a:pPr lvl="1" algn="just">
              <a:buFont typeface="Wingdings" pitchFamily="2" charset="2"/>
              <a:buChar char="v"/>
            </a:pPr>
            <a:r>
              <a:rPr lang="en-US" dirty="0"/>
              <a:t>Then that </a:t>
            </a:r>
            <a:r>
              <a:rPr lang="en-US" dirty="0">
                <a:solidFill>
                  <a:srgbClr val="0070C0"/>
                </a:solidFill>
              </a:rPr>
              <a:t>cost</a:t>
            </a:r>
            <a:r>
              <a:rPr lang="en-US" dirty="0"/>
              <a:t> is entered in the </a:t>
            </a:r>
            <a:r>
              <a:rPr lang="en-US" dirty="0">
                <a:solidFill>
                  <a:srgbClr val="0070C0"/>
                </a:solidFill>
              </a:rPr>
              <a:t>adjacency matrix</a:t>
            </a:r>
          </a:p>
          <a:p>
            <a:pPr lvl="1" algn="just"/>
            <a:endParaRPr lang="en-US" dirty="0"/>
          </a:p>
          <a:p>
            <a:pPr algn="just">
              <a:buFont typeface="Wingdings" pitchFamily="2" charset="2"/>
              <a:buChar char="Ø"/>
            </a:pPr>
            <a:r>
              <a:rPr lang="en-US" dirty="0">
                <a:solidFill>
                  <a:srgbClr val="FF0000"/>
                </a:solidFill>
              </a:rPr>
              <a:t>A complete graph</a:t>
            </a:r>
          </a:p>
          <a:p>
            <a:pPr lvl="1" algn="just">
              <a:buFont typeface="Wingdings" pitchFamily="2" charset="2"/>
              <a:buChar char="v"/>
            </a:pPr>
            <a:r>
              <a:rPr lang="en-US" dirty="0"/>
              <a:t>has an </a:t>
            </a:r>
            <a:r>
              <a:rPr lang="en-US" dirty="0">
                <a:solidFill>
                  <a:srgbClr val="0070C0"/>
                </a:solidFill>
              </a:rPr>
              <a:t>edge</a:t>
            </a:r>
            <a:r>
              <a:rPr lang="en-US" dirty="0"/>
              <a:t> between </a:t>
            </a:r>
            <a:r>
              <a:rPr lang="en-US" dirty="0">
                <a:solidFill>
                  <a:srgbClr val="0070C0"/>
                </a:solidFill>
              </a:rPr>
              <a:t>each pair of vertices</a:t>
            </a:r>
          </a:p>
          <a:p>
            <a:pPr lvl="1" algn="just">
              <a:buFont typeface="Wingdings" pitchFamily="2" charset="2"/>
              <a:buChar char="v"/>
            </a:pPr>
            <a:r>
              <a:rPr lang="en-US" dirty="0">
                <a:solidFill>
                  <a:srgbClr val="0070C0"/>
                </a:solidFill>
              </a:rPr>
              <a:t>N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nodes</a:t>
            </a:r>
            <a:r>
              <a:rPr lang="en-US" dirty="0"/>
              <a:t> will mean </a:t>
            </a:r>
            <a:r>
              <a:rPr lang="en-US" dirty="0">
                <a:solidFill>
                  <a:srgbClr val="0070C0"/>
                </a:solidFill>
              </a:rPr>
              <a:t>N * (N – 1) edges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06444B3-145C-E60A-95FE-0C73CCBB0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745" y="1600183"/>
            <a:ext cx="1800000" cy="20677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3F15A42-23E4-3B1D-CC6B-0E4484E9ED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386"/>
          <a:stretch/>
        </p:blipFill>
        <p:spPr>
          <a:xfrm>
            <a:off x="7214745" y="4606726"/>
            <a:ext cx="1800000" cy="170871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Nyhoff, ADTs, Data Structures and Problem Solving with C++, Second Edition, © 2005 Pearson Education, Inc. All rights reserved. 0-13-140909-3 </a:t>
            </a:r>
          </a:p>
        </p:txBody>
      </p:sp>
      <p:sp>
        <p:nvSpPr>
          <p:cNvPr id="12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44CFB-9976-6943-A8E3-4FE583053101}" type="slidenum">
              <a:rPr lang="en-US"/>
              <a:pPr/>
              <a:t>23</a:t>
            </a:fld>
            <a:endParaRPr lang="en-US"/>
          </a:p>
        </p:txBody>
      </p:sp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5649843" cy="618435"/>
          </a:xfrm>
        </p:spPr>
        <p:txBody>
          <a:bodyPr/>
          <a:lstStyle/>
          <a:p>
            <a:r>
              <a:rPr lang="en-US" dirty="0"/>
              <a:t>Adjacency Matrix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0504" y="719414"/>
            <a:ext cx="4556539" cy="2140847"/>
          </a:xfrm>
        </p:spPr>
        <p:txBody>
          <a:bodyPr/>
          <a:lstStyle/>
          <a:p>
            <a:pPr algn="just">
              <a:buFont typeface="Wingdings" pitchFamily="2" charset="2"/>
              <a:buChar char="Ø"/>
            </a:pPr>
            <a:r>
              <a:rPr lang="en-US" dirty="0"/>
              <a:t>Consider the </a:t>
            </a:r>
            <a:r>
              <a:rPr lang="en-US" dirty="0">
                <a:solidFill>
                  <a:srgbClr val="0070C0"/>
                </a:solidFill>
              </a:rPr>
              <a:t>sum</a:t>
            </a:r>
            <a:r>
              <a:rPr lang="en-US" dirty="0"/>
              <a:t> of the products of the pairs of elements from </a:t>
            </a:r>
            <a:r>
              <a:rPr lang="en-US" dirty="0">
                <a:solidFill>
                  <a:srgbClr val="0070C0"/>
                </a:solidFill>
              </a:rPr>
              <a:t>row </a:t>
            </a:r>
            <a:r>
              <a:rPr lang="en-US" b="1" i="1" dirty="0" err="1">
                <a:solidFill>
                  <a:srgbClr val="0070C0"/>
                </a:solidFill>
              </a:rPr>
              <a:t>i</a:t>
            </a:r>
            <a:r>
              <a:rPr lang="en-US" dirty="0">
                <a:solidFill>
                  <a:srgbClr val="0070C0"/>
                </a:solidFill>
              </a:rPr>
              <a:t> and column </a:t>
            </a:r>
            <a:r>
              <a:rPr lang="en-US" b="1" i="1" dirty="0" err="1">
                <a:solidFill>
                  <a:srgbClr val="0070C0"/>
                </a:solidFill>
              </a:rPr>
              <a:t>j</a:t>
            </a:r>
            <a:endParaRPr lang="en-US" dirty="0">
              <a:solidFill>
                <a:srgbClr val="0070C0"/>
              </a:solidFill>
            </a:endParaRPr>
          </a:p>
        </p:txBody>
      </p:sp>
      <p:graphicFrame>
        <p:nvGraphicFramePr>
          <p:cNvPr id="64516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2372087"/>
              </p:ext>
            </p:extLst>
          </p:nvPr>
        </p:nvGraphicFramePr>
        <p:xfrm>
          <a:off x="962025" y="3287713"/>
          <a:ext cx="3094038" cy="3108960"/>
        </p:xfrm>
        <a:graphic>
          <a:graphicData uri="http://schemas.openxmlformats.org/drawingml/2006/table">
            <a:tbl>
              <a:tblPr/>
              <a:tblGrid>
                <a:gridCol w="515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59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0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4569" name="Group 57"/>
          <p:cNvGraphicFramePr>
            <a:graphicFrameLocks noGrp="1"/>
          </p:cNvGraphicFramePr>
          <p:nvPr/>
        </p:nvGraphicFramePr>
        <p:xfrm>
          <a:off x="5170488" y="3228975"/>
          <a:ext cx="3094037" cy="3108960"/>
        </p:xfrm>
        <a:graphic>
          <a:graphicData uri="http://schemas.openxmlformats.org/drawingml/2006/table">
            <a:tbl>
              <a:tblPr/>
              <a:tblGrid>
                <a:gridCol w="515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59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4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4620" name="Text Box 108"/>
          <p:cNvSpPr txBox="1">
            <a:spLocks noChangeArrowheads="1"/>
          </p:cNvSpPr>
          <p:nvPr/>
        </p:nvSpPr>
        <p:spPr bwMode="auto">
          <a:xfrm>
            <a:off x="903288" y="2862263"/>
            <a:ext cx="7270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i="1"/>
              <a:t>adj</a:t>
            </a:r>
          </a:p>
        </p:txBody>
      </p:sp>
      <p:sp>
        <p:nvSpPr>
          <p:cNvPr id="64621" name="Text Box 109"/>
          <p:cNvSpPr txBox="1">
            <a:spLocks noChangeArrowheads="1"/>
          </p:cNvSpPr>
          <p:nvPr/>
        </p:nvSpPr>
        <p:spPr bwMode="auto">
          <a:xfrm>
            <a:off x="4932363" y="2767013"/>
            <a:ext cx="7270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i="1"/>
              <a:t>adj </a:t>
            </a:r>
            <a:r>
              <a:rPr lang="en-US" sz="2000" baseline="30000"/>
              <a:t>2</a:t>
            </a:r>
            <a:endParaRPr lang="en-US" sz="2000" i="1"/>
          </a:p>
        </p:txBody>
      </p:sp>
      <p:sp>
        <p:nvSpPr>
          <p:cNvPr id="64622" name="Text Box 110"/>
          <p:cNvSpPr txBox="1">
            <a:spLocks noChangeArrowheads="1"/>
          </p:cNvSpPr>
          <p:nvPr/>
        </p:nvSpPr>
        <p:spPr bwMode="auto">
          <a:xfrm>
            <a:off x="6588125" y="2509838"/>
            <a:ext cx="1735138" cy="64135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Fill in the rest of adj </a:t>
            </a:r>
            <a:r>
              <a:rPr lang="en-US" baseline="30000"/>
              <a:t>2</a:t>
            </a:r>
          </a:p>
        </p:txBody>
      </p:sp>
      <p:sp>
        <p:nvSpPr>
          <p:cNvPr id="64623" name="Text Box 111"/>
          <p:cNvSpPr txBox="1">
            <a:spLocks noChangeArrowheads="1"/>
          </p:cNvSpPr>
          <p:nvPr/>
        </p:nvSpPr>
        <p:spPr bwMode="auto">
          <a:xfrm>
            <a:off x="6026150" y="4665663"/>
            <a:ext cx="2578100" cy="915987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/>
              <a:t>This is the number of paths of length 2 from node 1 to node 3</a:t>
            </a:r>
          </a:p>
        </p:txBody>
      </p:sp>
      <p:grpSp>
        <p:nvGrpSpPr>
          <p:cNvPr id="64624" name="Group 112"/>
          <p:cNvGrpSpPr>
            <a:grpSpLocks/>
          </p:cNvGrpSpPr>
          <p:nvPr/>
        </p:nvGrpSpPr>
        <p:grpSpPr bwMode="auto">
          <a:xfrm>
            <a:off x="2533650" y="3779838"/>
            <a:ext cx="503238" cy="1535112"/>
            <a:chOff x="1603" y="2496"/>
            <a:chExt cx="317" cy="967"/>
          </a:xfrm>
        </p:grpSpPr>
        <p:sp>
          <p:nvSpPr>
            <p:cNvPr id="64625" name="Oval 113"/>
            <p:cNvSpPr>
              <a:spLocks noChangeArrowheads="1"/>
            </p:cNvSpPr>
            <p:nvPr/>
          </p:nvSpPr>
          <p:spPr bwMode="auto">
            <a:xfrm>
              <a:off x="1610" y="2496"/>
              <a:ext cx="310" cy="310"/>
            </a:xfrm>
            <a:prstGeom prst="ellipse">
              <a:avLst/>
            </a:prstGeom>
            <a:noFill/>
            <a:ln w="9525">
              <a:solidFill>
                <a:srgbClr val="6666FF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64626" name="Oval 114"/>
            <p:cNvSpPr>
              <a:spLocks noChangeArrowheads="1"/>
            </p:cNvSpPr>
            <p:nvPr/>
          </p:nvSpPr>
          <p:spPr bwMode="auto">
            <a:xfrm>
              <a:off x="1603" y="3153"/>
              <a:ext cx="310" cy="310"/>
            </a:xfrm>
            <a:prstGeom prst="ellipse">
              <a:avLst/>
            </a:prstGeom>
            <a:noFill/>
            <a:ln w="9525">
              <a:solidFill>
                <a:srgbClr val="6666FF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</p:grpSp>
      <p:grpSp>
        <p:nvGrpSpPr>
          <p:cNvPr id="64627" name="Group 115"/>
          <p:cNvGrpSpPr>
            <a:grpSpLocks/>
          </p:cNvGrpSpPr>
          <p:nvPr/>
        </p:nvGrpSpPr>
        <p:grpSpPr bwMode="auto">
          <a:xfrm>
            <a:off x="2016125" y="3838575"/>
            <a:ext cx="1008063" cy="962025"/>
            <a:chOff x="1277" y="2533"/>
            <a:chExt cx="635" cy="606"/>
          </a:xfrm>
        </p:grpSpPr>
        <p:sp>
          <p:nvSpPr>
            <p:cNvPr id="64628" name="Oval 116"/>
            <p:cNvSpPr>
              <a:spLocks noChangeArrowheads="1"/>
            </p:cNvSpPr>
            <p:nvPr/>
          </p:nvSpPr>
          <p:spPr bwMode="auto">
            <a:xfrm>
              <a:off x="1602" y="2829"/>
              <a:ext cx="310" cy="310"/>
            </a:xfrm>
            <a:prstGeom prst="ellipse">
              <a:avLst/>
            </a:prstGeom>
            <a:noFill/>
            <a:ln w="9525">
              <a:solidFill>
                <a:srgbClr val="6666FF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64629" name="Oval 117"/>
            <p:cNvSpPr>
              <a:spLocks noChangeArrowheads="1"/>
            </p:cNvSpPr>
            <p:nvPr/>
          </p:nvSpPr>
          <p:spPr bwMode="auto">
            <a:xfrm>
              <a:off x="1277" y="2533"/>
              <a:ext cx="310" cy="310"/>
            </a:xfrm>
            <a:prstGeom prst="ellipse">
              <a:avLst/>
            </a:prstGeom>
            <a:noFill/>
            <a:ln w="9525">
              <a:solidFill>
                <a:srgbClr val="6666FF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</p:grpSp>
      <p:grpSp>
        <p:nvGrpSpPr>
          <p:cNvPr id="64630" name="Group 118"/>
          <p:cNvGrpSpPr>
            <a:grpSpLocks/>
          </p:cNvGrpSpPr>
          <p:nvPr/>
        </p:nvGrpSpPr>
        <p:grpSpPr bwMode="auto">
          <a:xfrm>
            <a:off x="1512888" y="3810000"/>
            <a:ext cx="1512887" cy="506413"/>
            <a:chOff x="945" y="2200"/>
            <a:chExt cx="953" cy="319"/>
          </a:xfrm>
        </p:grpSpPr>
        <p:sp>
          <p:nvSpPr>
            <p:cNvPr id="64631" name="Oval 119"/>
            <p:cNvSpPr>
              <a:spLocks noChangeArrowheads="1"/>
            </p:cNvSpPr>
            <p:nvPr/>
          </p:nvSpPr>
          <p:spPr bwMode="auto">
            <a:xfrm>
              <a:off x="945" y="2200"/>
              <a:ext cx="310" cy="310"/>
            </a:xfrm>
            <a:prstGeom prst="ellipse">
              <a:avLst/>
            </a:prstGeom>
            <a:noFill/>
            <a:ln w="9525">
              <a:solidFill>
                <a:srgbClr val="6666FF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64632" name="Oval 120"/>
            <p:cNvSpPr>
              <a:spLocks noChangeArrowheads="1"/>
            </p:cNvSpPr>
            <p:nvPr/>
          </p:nvSpPr>
          <p:spPr bwMode="auto">
            <a:xfrm>
              <a:off x="1588" y="2209"/>
              <a:ext cx="310" cy="310"/>
            </a:xfrm>
            <a:prstGeom prst="ellipse">
              <a:avLst/>
            </a:prstGeom>
            <a:noFill/>
            <a:ln w="9525">
              <a:solidFill>
                <a:srgbClr val="6666FF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</p:grpSp>
      <p:grpSp>
        <p:nvGrpSpPr>
          <p:cNvPr id="64633" name="Group 121"/>
          <p:cNvGrpSpPr>
            <a:grpSpLocks/>
          </p:cNvGrpSpPr>
          <p:nvPr/>
        </p:nvGrpSpPr>
        <p:grpSpPr bwMode="auto">
          <a:xfrm>
            <a:off x="2522538" y="3825875"/>
            <a:ext cx="1006475" cy="2016125"/>
            <a:chOff x="1596" y="2525"/>
            <a:chExt cx="634" cy="1270"/>
          </a:xfrm>
        </p:grpSpPr>
        <p:sp>
          <p:nvSpPr>
            <p:cNvPr id="64634" name="Oval 122"/>
            <p:cNvSpPr>
              <a:spLocks noChangeArrowheads="1"/>
            </p:cNvSpPr>
            <p:nvPr/>
          </p:nvSpPr>
          <p:spPr bwMode="auto">
            <a:xfrm>
              <a:off x="1596" y="3485"/>
              <a:ext cx="310" cy="310"/>
            </a:xfrm>
            <a:prstGeom prst="ellipse">
              <a:avLst/>
            </a:prstGeom>
            <a:noFill/>
            <a:ln w="9525">
              <a:solidFill>
                <a:srgbClr val="6666FF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64635" name="Oval 123"/>
            <p:cNvSpPr>
              <a:spLocks noChangeArrowheads="1"/>
            </p:cNvSpPr>
            <p:nvPr/>
          </p:nvSpPr>
          <p:spPr bwMode="auto">
            <a:xfrm>
              <a:off x="1920" y="2525"/>
              <a:ext cx="310" cy="310"/>
            </a:xfrm>
            <a:prstGeom prst="ellipse">
              <a:avLst/>
            </a:prstGeom>
            <a:noFill/>
            <a:ln w="9525">
              <a:solidFill>
                <a:srgbClr val="6666FF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</p:grpSp>
      <p:grpSp>
        <p:nvGrpSpPr>
          <p:cNvPr id="64636" name="Group 124"/>
          <p:cNvGrpSpPr>
            <a:grpSpLocks/>
          </p:cNvGrpSpPr>
          <p:nvPr/>
        </p:nvGrpSpPr>
        <p:grpSpPr bwMode="auto">
          <a:xfrm>
            <a:off x="2498725" y="3825875"/>
            <a:ext cx="1546225" cy="2557463"/>
            <a:chOff x="1581" y="2525"/>
            <a:chExt cx="974" cy="1611"/>
          </a:xfrm>
        </p:grpSpPr>
        <p:sp>
          <p:nvSpPr>
            <p:cNvPr id="64637" name="Oval 125"/>
            <p:cNvSpPr>
              <a:spLocks noChangeArrowheads="1"/>
            </p:cNvSpPr>
            <p:nvPr/>
          </p:nvSpPr>
          <p:spPr bwMode="auto">
            <a:xfrm>
              <a:off x="1581" y="3826"/>
              <a:ext cx="310" cy="310"/>
            </a:xfrm>
            <a:prstGeom prst="ellipse">
              <a:avLst/>
            </a:prstGeom>
            <a:noFill/>
            <a:ln w="9525">
              <a:solidFill>
                <a:srgbClr val="6666FF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64638" name="Oval 126"/>
            <p:cNvSpPr>
              <a:spLocks noChangeArrowheads="1"/>
            </p:cNvSpPr>
            <p:nvPr/>
          </p:nvSpPr>
          <p:spPr bwMode="auto">
            <a:xfrm>
              <a:off x="2245" y="2525"/>
              <a:ext cx="310" cy="310"/>
            </a:xfrm>
            <a:prstGeom prst="ellipse">
              <a:avLst/>
            </a:prstGeom>
            <a:noFill/>
            <a:ln w="9525">
              <a:solidFill>
                <a:srgbClr val="6666FF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</p:grpSp>
      <p:pic>
        <p:nvPicPr>
          <p:cNvPr id="127" name="Picture 9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91379" y="0"/>
            <a:ext cx="2652621" cy="2519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6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6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622" grpId="0" animBg="1"/>
      <p:bldP spid="6462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Nyhoff, ADTs, Data Structures and Problem Solving with C++, Second Edition, © 2005 Pearson Education, Inc. All rights reserved. 0-13-140909-3 </a:t>
            </a:r>
          </a:p>
        </p:txBody>
      </p:sp>
      <p:sp>
        <p:nvSpPr>
          <p:cNvPr id="12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44CFB-9976-6943-A8E3-4FE583053101}" type="slidenum">
              <a:rPr lang="en-US"/>
              <a:pPr/>
              <a:t>24</a:t>
            </a:fld>
            <a:endParaRPr lang="en-US"/>
          </a:p>
        </p:txBody>
      </p:sp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-6625" y="0"/>
            <a:ext cx="9069144" cy="896293"/>
          </a:xfrm>
        </p:spPr>
        <p:txBody>
          <a:bodyPr/>
          <a:lstStyle/>
          <a:p>
            <a:r>
              <a:rPr lang="en-US" dirty="0"/>
              <a:t>Example: Adjacency Matrix</a:t>
            </a:r>
          </a:p>
        </p:txBody>
      </p:sp>
      <p:pic>
        <p:nvPicPr>
          <p:cNvPr id="3" name="Picture 2" descr="Chart&#10;&#10;Description automatically generated with medium confidence">
            <a:extLst>
              <a:ext uri="{FF2B5EF4-FFF2-40B4-BE49-F238E27FC236}">
                <a16:creationId xmlns:a16="http://schemas.microsoft.com/office/drawing/2014/main" id="{6EB61D43-F856-C8BD-D510-100CAD9D111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83" t="19491" r="57545" b="6661"/>
          <a:stretch/>
        </p:blipFill>
        <p:spPr>
          <a:xfrm>
            <a:off x="796703" y="1151818"/>
            <a:ext cx="3600000" cy="4554364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FD037EE-9F21-0D83-1656-29B0D7C183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6534437"/>
              </p:ext>
            </p:extLst>
          </p:nvPr>
        </p:nvGraphicFramePr>
        <p:xfrm>
          <a:off x="4472531" y="1799830"/>
          <a:ext cx="4389938" cy="2602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134">
                  <a:extLst>
                    <a:ext uri="{9D8B030D-6E8A-4147-A177-3AD203B41FA5}">
                      <a16:colId xmlns:a16="http://schemas.microsoft.com/office/drawing/2014/main" val="1065719800"/>
                    </a:ext>
                  </a:extLst>
                </a:gridCol>
                <a:gridCol w="627134">
                  <a:extLst>
                    <a:ext uri="{9D8B030D-6E8A-4147-A177-3AD203B41FA5}">
                      <a16:colId xmlns:a16="http://schemas.microsoft.com/office/drawing/2014/main" val="249264872"/>
                    </a:ext>
                  </a:extLst>
                </a:gridCol>
                <a:gridCol w="627134">
                  <a:extLst>
                    <a:ext uri="{9D8B030D-6E8A-4147-A177-3AD203B41FA5}">
                      <a16:colId xmlns:a16="http://schemas.microsoft.com/office/drawing/2014/main" val="1438597589"/>
                    </a:ext>
                  </a:extLst>
                </a:gridCol>
                <a:gridCol w="627134">
                  <a:extLst>
                    <a:ext uri="{9D8B030D-6E8A-4147-A177-3AD203B41FA5}">
                      <a16:colId xmlns:a16="http://schemas.microsoft.com/office/drawing/2014/main" val="2328933164"/>
                    </a:ext>
                  </a:extLst>
                </a:gridCol>
                <a:gridCol w="627134">
                  <a:extLst>
                    <a:ext uri="{9D8B030D-6E8A-4147-A177-3AD203B41FA5}">
                      <a16:colId xmlns:a16="http://schemas.microsoft.com/office/drawing/2014/main" val="641025084"/>
                    </a:ext>
                  </a:extLst>
                </a:gridCol>
                <a:gridCol w="627134">
                  <a:extLst>
                    <a:ext uri="{9D8B030D-6E8A-4147-A177-3AD203B41FA5}">
                      <a16:colId xmlns:a16="http://schemas.microsoft.com/office/drawing/2014/main" val="1775153427"/>
                    </a:ext>
                  </a:extLst>
                </a:gridCol>
                <a:gridCol w="627134">
                  <a:extLst>
                    <a:ext uri="{9D8B030D-6E8A-4147-A177-3AD203B41FA5}">
                      <a16:colId xmlns:a16="http://schemas.microsoft.com/office/drawing/2014/main" val="1525545214"/>
                    </a:ext>
                  </a:extLst>
                </a:gridCol>
              </a:tblGrid>
              <a:tr h="36729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Node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6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148185079"/>
                  </a:ext>
                </a:extLst>
              </a:tr>
              <a:tr h="3726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79420495"/>
                  </a:ext>
                </a:extLst>
              </a:tr>
              <a:tr h="3726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5612430"/>
                  </a:ext>
                </a:extLst>
              </a:tr>
              <a:tr h="3726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527427439"/>
                  </a:ext>
                </a:extLst>
              </a:tr>
              <a:tr h="3726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94166536"/>
                  </a:ext>
                </a:extLst>
              </a:tr>
              <a:tr h="3726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19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69263361"/>
                  </a:ext>
                </a:extLst>
              </a:tr>
              <a:tr h="3726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47535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411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Nyhoff, ADTs, Data Structures and Problem Solving with C++, Second Edition, © 2005 Pearson Education, Inc. All rights reserved. 0-13-140909-3 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BC297-0273-4F4D-A091-8C5EDAD40BD3}" type="slidenum">
              <a:rPr lang="en-US"/>
              <a:pPr/>
              <a:t>25</a:t>
            </a:fld>
            <a:endParaRPr lang="en-US"/>
          </a:p>
        </p:txBody>
      </p:sp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9857"/>
            <a:ext cx="8229600" cy="825113"/>
          </a:xfrm>
        </p:spPr>
        <p:txBody>
          <a:bodyPr/>
          <a:lstStyle/>
          <a:p>
            <a:r>
              <a:rPr lang="en-US" dirty="0"/>
              <a:t>Adjacency Matrix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41388"/>
            <a:ext cx="8686800" cy="5440362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Deficiencies in adjacency matrix representation</a:t>
            </a:r>
          </a:p>
          <a:p>
            <a:pPr lvl="1">
              <a:lnSpc>
                <a:spcPct val="150000"/>
              </a:lnSpc>
            </a:pPr>
            <a:endParaRPr lang="en-US" dirty="0"/>
          </a:p>
          <a:p>
            <a:pPr lvl="1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>
                <a:solidFill>
                  <a:srgbClr val="0070C0"/>
                </a:solidFill>
              </a:rPr>
              <a:t>Data</a:t>
            </a:r>
            <a:r>
              <a:rPr lang="en-US" dirty="0"/>
              <a:t> must be stored in </a:t>
            </a:r>
            <a:br>
              <a:rPr lang="en-US" dirty="0"/>
            </a:br>
            <a:r>
              <a:rPr lang="en-US" dirty="0">
                <a:solidFill>
                  <a:srgbClr val="0070C0"/>
                </a:solidFill>
              </a:rPr>
              <a:t>separate matrix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v"/>
            </a:pPr>
            <a:endParaRPr lang="en-US" dirty="0"/>
          </a:p>
          <a:p>
            <a:pPr lvl="1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/>
              <a:t>When there are </a:t>
            </a:r>
            <a:r>
              <a:rPr lang="en-US" dirty="0">
                <a:solidFill>
                  <a:srgbClr val="0070C0"/>
                </a:solidFill>
              </a:rPr>
              <a:t>few edges, </a:t>
            </a:r>
            <a:r>
              <a:rPr lang="en-US" dirty="0"/>
              <a:t>the matrix is </a:t>
            </a:r>
            <a:r>
              <a:rPr lang="en-US" dirty="0">
                <a:solidFill>
                  <a:srgbClr val="0070C0"/>
                </a:solidFill>
              </a:rPr>
              <a:t>sparse</a:t>
            </a:r>
            <a:br>
              <a:rPr lang="en-US" dirty="0"/>
            </a:br>
            <a:r>
              <a:rPr lang="en-US" dirty="0">
                <a:solidFill>
                  <a:srgbClr val="0070C0"/>
                </a:solidFill>
              </a:rPr>
              <a:t>(wasted space)</a:t>
            </a:r>
          </a:p>
        </p:txBody>
      </p:sp>
      <p:grpSp>
        <p:nvGrpSpPr>
          <p:cNvPr id="68616" name="Group 8"/>
          <p:cNvGrpSpPr>
            <a:grpSpLocks/>
          </p:cNvGrpSpPr>
          <p:nvPr/>
        </p:nvGrpSpPr>
        <p:grpSpPr bwMode="auto">
          <a:xfrm>
            <a:off x="6677797" y="1914225"/>
            <a:ext cx="1704975" cy="1939925"/>
            <a:chOff x="2771" y="2250"/>
            <a:chExt cx="1074" cy="1222"/>
          </a:xfrm>
        </p:grpSpPr>
        <p:sp>
          <p:nvSpPr>
            <p:cNvPr id="68613" name="Rectangle 5"/>
            <p:cNvSpPr>
              <a:spLocks noChangeArrowheads="1"/>
            </p:cNvSpPr>
            <p:nvPr/>
          </p:nvSpPr>
          <p:spPr bwMode="auto">
            <a:xfrm>
              <a:off x="2771" y="2250"/>
              <a:ext cx="1074" cy="122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68612" name="Picture 4"/>
            <p:cNvPicPr>
              <a:picLocks noChangeAspect="1" noChangeArrowheads="1"/>
            </p:cNvPicPr>
            <p:nvPr/>
          </p:nvPicPr>
          <p:blipFill>
            <a:blip r:embed="rId2"/>
            <a:srcRect l="2437" t="24585" r="88966" b="18687"/>
            <a:stretch>
              <a:fillRect/>
            </a:stretch>
          </p:blipFill>
          <p:spPr bwMode="auto">
            <a:xfrm>
              <a:off x="3512" y="2375"/>
              <a:ext cx="287" cy="10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68615" name="Text Box 7"/>
            <p:cNvSpPr txBox="1">
              <a:spLocks noChangeArrowheads="1"/>
            </p:cNvSpPr>
            <p:nvPr/>
          </p:nvSpPr>
          <p:spPr bwMode="auto">
            <a:xfrm>
              <a:off x="2835" y="2742"/>
              <a:ext cx="66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solidFill>
                    <a:srgbClr val="6666FF"/>
                  </a:solidFill>
                  <a:latin typeface="Courier New" pitchFamily="4" charset="0"/>
                </a:rPr>
                <a:t>data =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Nyhoff, ADTs, Data Structures and Problem Solving with C++, Second Edition, © 2005 Pearson Education, Inc. All rights reserved. 0-13-140909-3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795A1-4704-8542-B683-08502997877C}" type="slidenum">
              <a:rPr lang="en-US"/>
              <a:pPr/>
              <a:t>26</a:t>
            </a:fld>
            <a:endParaRPr lang="en-US"/>
          </a:p>
        </p:txBody>
      </p:sp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42122"/>
            <a:ext cx="8229600" cy="730313"/>
          </a:xfrm>
        </p:spPr>
        <p:txBody>
          <a:bodyPr/>
          <a:lstStyle/>
          <a:p>
            <a:r>
              <a:rPr lang="en-US" dirty="0"/>
              <a:t>Adjacency-List Representation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1548" y="1147072"/>
            <a:ext cx="4109002" cy="523467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Solving problem of wasted space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/>
              <a:t>Better to use an </a:t>
            </a:r>
            <a:r>
              <a:rPr lang="en-US" dirty="0">
                <a:solidFill>
                  <a:srgbClr val="0070C0"/>
                </a:solidFill>
              </a:rPr>
              <a:t>array of pointers </a:t>
            </a:r>
            <a:r>
              <a:rPr lang="en-US" dirty="0"/>
              <a:t>to linked row-lists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This is called an </a:t>
            </a:r>
            <a:br>
              <a:rPr lang="en-US" dirty="0"/>
            </a:br>
            <a:r>
              <a:rPr lang="en-US" dirty="0">
                <a:solidFill>
                  <a:srgbClr val="0070C0"/>
                </a:solidFill>
              </a:rPr>
              <a:t>Adjacency-</a:t>
            </a:r>
            <a:r>
              <a:rPr lang="en-US" u="sng" dirty="0">
                <a:solidFill>
                  <a:srgbClr val="0070C0"/>
                </a:solidFill>
              </a:rPr>
              <a:t>list</a:t>
            </a:r>
            <a:r>
              <a:rPr lang="en-US" dirty="0">
                <a:solidFill>
                  <a:srgbClr val="0070C0"/>
                </a:solidFill>
              </a:rPr>
              <a:t> </a:t>
            </a:r>
            <a:br>
              <a:rPr lang="en-US" dirty="0"/>
            </a:br>
            <a:r>
              <a:rPr lang="en-US" dirty="0"/>
              <a:t>representation</a:t>
            </a:r>
          </a:p>
        </p:txBody>
      </p:sp>
      <p:pic>
        <p:nvPicPr>
          <p:cNvPr id="66565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00550" y="3170238"/>
            <a:ext cx="4238625" cy="299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</p:pic>
      <p:pic>
        <p:nvPicPr>
          <p:cNvPr id="7" name="Picture 9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75989" y="964557"/>
            <a:ext cx="2288186" cy="2173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Nyhoff, ADTs, Data Structures and Problem Solving with C++, Second Edition, © 2005 Pearson Education, Inc. All rights reserved. 0-13-140909-3 </a:t>
            </a:r>
          </a:p>
        </p:txBody>
      </p:sp>
      <p:sp>
        <p:nvSpPr>
          <p:cNvPr id="12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44CFB-9976-6943-A8E3-4FE583053101}" type="slidenum">
              <a:rPr lang="en-US"/>
              <a:pPr/>
              <a:t>27</a:t>
            </a:fld>
            <a:endParaRPr lang="en-US"/>
          </a:p>
        </p:txBody>
      </p:sp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-6626" y="0"/>
            <a:ext cx="8686799" cy="662609"/>
          </a:xfrm>
        </p:spPr>
        <p:txBody>
          <a:bodyPr/>
          <a:lstStyle/>
          <a:p>
            <a:r>
              <a:rPr lang="en-US" dirty="0"/>
              <a:t>Example: Adjacency List</a:t>
            </a: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C29D460D-2BAA-101C-B2FE-E838C58F9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73" y="2019779"/>
            <a:ext cx="7200000" cy="294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2451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Nyhoff, ADTs, Data Structures and Problem Solving with C++, Second Edition, © 2005 Pearson Education, Inc. All rights reserved. 0-13-140909-3 </a:t>
            </a:r>
          </a:p>
        </p:txBody>
      </p:sp>
      <p:sp>
        <p:nvSpPr>
          <p:cNvPr id="12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44CFB-9976-6943-A8E3-4FE583053101}" type="slidenum">
              <a:rPr lang="en-US"/>
              <a:pPr/>
              <a:t>28</a:t>
            </a:fld>
            <a:endParaRPr lang="en-US"/>
          </a:p>
        </p:txBody>
      </p:sp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-6626" y="0"/>
            <a:ext cx="8686799" cy="662609"/>
          </a:xfrm>
        </p:spPr>
        <p:txBody>
          <a:bodyPr/>
          <a:lstStyle/>
          <a:p>
            <a:r>
              <a:rPr lang="en-US" dirty="0"/>
              <a:t>Example: Adjacency List</a:t>
            </a:r>
          </a:p>
        </p:txBody>
      </p:sp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0B9C54EB-B991-7B26-F904-3FDACE4A2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000" y="1787168"/>
            <a:ext cx="7200000" cy="3082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2604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Nyhoff, ADTs, Data Structures and Problem Solving with C++, Second Edition, © 2005 Pearson Education, Inc. All rights reserved. 0-13-140909-3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795A1-4704-8542-B683-08502997877C}" type="slidenum">
              <a:rPr lang="en-US"/>
              <a:pPr/>
              <a:t>29</a:t>
            </a:fld>
            <a:endParaRPr lang="en-US"/>
          </a:p>
        </p:txBody>
      </p:sp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42122"/>
            <a:ext cx="8229600" cy="730313"/>
          </a:xfrm>
        </p:spPr>
        <p:txBody>
          <a:bodyPr/>
          <a:lstStyle/>
          <a:p>
            <a:r>
              <a:rPr lang="en-US" dirty="0"/>
              <a:t>Adjacency-List class template</a:t>
            </a:r>
          </a:p>
        </p:txBody>
      </p:sp>
      <p:pic>
        <p:nvPicPr>
          <p:cNvPr id="9" name="Picture 8" descr="Screen Shot 2015-12-11 at 8.22.59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710" y="964066"/>
            <a:ext cx="5922581" cy="5400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Nyhoff, ADTs, Data Structures and Problem Solving with C++, Second Edition, © 2005 Pearson Education, Inc. All rights reserved. 0-13-140909-3 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57FB4-B210-3E4F-81B8-95556526F58D}" type="slidenum">
              <a:rPr lang="en-US"/>
              <a:pPr/>
              <a:t>30</a:t>
            </a:fld>
            <a:endParaRPr lang="en-US"/>
          </a:p>
        </p:txBody>
      </p:sp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2214"/>
            <a:ext cx="8229600" cy="738616"/>
          </a:xfrm>
        </p:spPr>
        <p:txBody>
          <a:bodyPr/>
          <a:lstStyle/>
          <a:p>
            <a:r>
              <a:rPr lang="en-US" dirty="0"/>
              <a:t>Searching a Graph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10909"/>
            <a:ext cx="8343900" cy="559092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Recall that with a </a:t>
            </a:r>
            <a:r>
              <a:rPr lang="en-US" dirty="0">
                <a:solidFill>
                  <a:srgbClr val="0070C0"/>
                </a:solidFill>
              </a:rPr>
              <a:t>tree</a:t>
            </a:r>
            <a:r>
              <a:rPr lang="en-US" dirty="0"/>
              <a:t> we search from the root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en-US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But with a </a:t>
            </a:r>
            <a:r>
              <a:rPr lang="en-US" dirty="0">
                <a:solidFill>
                  <a:srgbClr val="0070C0"/>
                </a:solidFill>
              </a:rPr>
              <a:t>digraph</a:t>
            </a:r>
            <a:r>
              <a:rPr lang="en-US" dirty="0"/>
              <a:t> …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>
                <a:solidFill>
                  <a:srgbClr val="0070C0"/>
                </a:solidFill>
              </a:rPr>
              <a:t>may not </a:t>
            </a:r>
            <a:r>
              <a:rPr lang="en-US" dirty="0"/>
              <a:t>be a </a:t>
            </a:r>
            <a:r>
              <a:rPr lang="en-US" dirty="0">
                <a:solidFill>
                  <a:srgbClr val="0070C0"/>
                </a:solidFill>
              </a:rPr>
              <a:t>vertex</a:t>
            </a:r>
            <a:r>
              <a:rPr lang="en-US" dirty="0"/>
              <a:t> from which every other vertex </a:t>
            </a:r>
            <a:r>
              <a:rPr lang="en-US" dirty="0">
                <a:solidFill>
                  <a:srgbClr val="0070C0"/>
                </a:solidFill>
              </a:rPr>
              <a:t>can be reached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/>
              <a:t>may not be possible to </a:t>
            </a:r>
            <a:r>
              <a:rPr lang="en-US" dirty="0">
                <a:solidFill>
                  <a:srgbClr val="0070C0"/>
                </a:solidFill>
              </a:rPr>
              <a:t>traverse entire digraph</a:t>
            </a:r>
            <a:br>
              <a:rPr lang="en-US" dirty="0"/>
            </a:br>
            <a:r>
              <a:rPr lang="en-US" dirty="0"/>
              <a:t>(regardless of starting vertex)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Nyhoff, ADTs, Data Structures and Problem Solving with C++, Second Edition, © 2005 Pearson Education, Inc. All rights reserved. 0-13-140909-3 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0F0B8-7A98-884F-80EF-B6D7D67F6EA3}" type="slidenum">
              <a:rPr lang="en-US"/>
              <a:pPr/>
              <a:t>31</a:t>
            </a:fld>
            <a:endParaRPr lang="en-US"/>
          </a:p>
        </p:txBody>
      </p:sp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927"/>
            <a:ext cx="8229600" cy="800400"/>
          </a:xfrm>
        </p:spPr>
        <p:txBody>
          <a:bodyPr/>
          <a:lstStyle/>
          <a:p>
            <a:r>
              <a:rPr lang="en-US" dirty="0"/>
              <a:t>Searching a Graph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6263"/>
            <a:ext cx="7918174" cy="509562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We must determine which nodes are reachable from a given node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en-US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Two standard methods of searching: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/>
              <a:t>Depth First Search </a:t>
            </a:r>
            <a:r>
              <a:rPr lang="en-US" dirty="0">
                <a:solidFill>
                  <a:srgbClr val="0070C0"/>
                </a:solidFill>
              </a:rPr>
              <a:t>(DFS)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/>
              <a:t>Breadth First Search </a:t>
            </a:r>
            <a:r>
              <a:rPr lang="en-US" dirty="0">
                <a:solidFill>
                  <a:srgbClr val="0070C0"/>
                </a:solidFill>
              </a:rPr>
              <a:t>(BFS)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Nyhoff, ADTs, Data Structures and Problem Solving with C++, Second Edition, © 2005 Pearson Education, Inc. All rights reserved. 0-13-140909-3 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1363-94C7-EA4F-A54E-B214578E481F}" type="slidenum">
              <a:rPr lang="en-US"/>
              <a:pPr/>
              <a:t>32</a:t>
            </a:fld>
            <a:endParaRPr lang="en-US"/>
          </a:p>
        </p:txBody>
      </p:sp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2212"/>
            <a:ext cx="8229600" cy="825113"/>
          </a:xfrm>
        </p:spPr>
        <p:txBody>
          <a:bodyPr/>
          <a:lstStyle/>
          <a:p>
            <a:r>
              <a:rPr lang="en-US" dirty="0"/>
              <a:t>Depth-First Search (</a:t>
            </a:r>
            <a:r>
              <a:rPr lang="en-US" dirty="0">
                <a:solidFill>
                  <a:srgbClr val="0070C0"/>
                </a:solidFill>
              </a:rPr>
              <a:t>DFS</a:t>
            </a:r>
            <a:r>
              <a:rPr lang="en-US" dirty="0"/>
              <a:t>)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77325"/>
            <a:ext cx="8229600" cy="5466325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solidFill>
                  <a:srgbClr val="0070C0"/>
                </a:solidFill>
              </a:rPr>
              <a:t>Start</a:t>
            </a:r>
            <a:r>
              <a:rPr lang="en-US" dirty="0"/>
              <a:t> from a </a:t>
            </a:r>
            <a:r>
              <a:rPr lang="en-US" dirty="0">
                <a:solidFill>
                  <a:srgbClr val="0070C0"/>
                </a:solidFill>
              </a:rPr>
              <a:t>given vertex </a:t>
            </a:r>
            <a:r>
              <a:rPr lang="en-US" i="1" dirty="0">
                <a:solidFill>
                  <a:srgbClr val="0070C0"/>
                </a:solidFill>
              </a:rPr>
              <a:t>v</a:t>
            </a:r>
            <a:endParaRPr lang="en-US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solidFill>
                  <a:srgbClr val="0070C0"/>
                </a:solidFill>
              </a:rPr>
              <a:t>Visit first neighbor </a:t>
            </a:r>
            <a:r>
              <a:rPr lang="en-US" i="1" dirty="0">
                <a:solidFill>
                  <a:srgbClr val="0070C0"/>
                </a:solidFill>
              </a:rPr>
              <a:t>w</a:t>
            </a:r>
            <a:r>
              <a:rPr lang="en-US" dirty="0"/>
              <a:t>, of </a:t>
            </a:r>
            <a:r>
              <a:rPr lang="en-US" i="1" dirty="0"/>
              <a:t>v</a:t>
            </a:r>
            <a:endParaRPr lang="en-US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Then </a:t>
            </a:r>
            <a:r>
              <a:rPr lang="en-US" dirty="0">
                <a:solidFill>
                  <a:srgbClr val="0070C0"/>
                </a:solidFill>
              </a:rPr>
              <a:t>visit first neighbor of </a:t>
            </a:r>
            <a:r>
              <a:rPr lang="en-US" i="1" dirty="0">
                <a:solidFill>
                  <a:srgbClr val="0070C0"/>
                </a:solidFill>
              </a:rPr>
              <a:t>w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which has not already been visited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etc.  …  Continues until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/>
              <a:t>all nodes of graph have been examined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solidFill>
                  <a:srgbClr val="0070C0"/>
                </a:solidFill>
              </a:rPr>
              <a:t>If dead-end reached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/>
              <a:t>backup to </a:t>
            </a:r>
            <a:r>
              <a:rPr lang="en-US" dirty="0">
                <a:solidFill>
                  <a:srgbClr val="0070C0"/>
                </a:solidFill>
              </a:rPr>
              <a:t>last visited </a:t>
            </a:r>
            <a:r>
              <a:rPr lang="en-US" dirty="0"/>
              <a:t>node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/>
              <a:t>examine </a:t>
            </a:r>
            <a:r>
              <a:rPr lang="en-US" dirty="0">
                <a:solidFill>
                  <a:srgbClr val="0070C0"/>
                </a:solidFill>
              </a:rPr>
              <a:t>remaining neighbors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Nyhoff, ADTs, Data Structures and Problem Solving with C++, Second Edition, © 2005 Pearson Education, Inc. All rights reserved. 0-13-140909-3 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1363-94C7-EA4F-A54E-B214578E481F}" type="slidenum">
              <a:rPr lang="en-US"/>
              <a:pPr/>
              <a:t>33</a:t>
            </a:fld>
            <a:endParaRPr lang="en-US"/>
          </a:p>
        </p:txBody>
      </p:sp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2212"/>
            <a:ext cx="8229600" cy="825113"/>
          </a:xfrm>
        </p:spPr>
        <p:txBody>
          <a:bodyPr/>
          <a:lstStyle/>
          <a:p>
            <a:r>
              <a:rPr lang="en-US" dirty="0"/>
              <a:t>Depth-First Search (</a:t>
            </a:r>
            <a:r>
              <a:rPr lang="en-US" dirty="0">
                <a:solidFill>
                  <a:srgbClr val="0070C0"/>
                </a:solidFill>
              </a:rPr>
              <a:t>DFS</a:t>
            </a:r>
            <a:r>
              <a:rPr lang="en-US" dirty="0"/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BF3292-182E-E5E2-C786-0AD7CE3EC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000" y="1910325"/>
            <a:ext cx="7200000" cy="30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 descr="Background pattern&#10;&#10;Description automatically generated with low confidence">
            <a:extLst>
              <a:ext uri="{FF2B5EF4-FFF2-40B4-BE49-F238E27FC236}">
                <a16:creationId xmlns:a16="http://schemas.microsoft.com/office/drawing/2014/main" id="{9678B304-89D6-74FB-C9C5-BF50C1EC7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955180">
            <a:off x="2841183" y="3872343"/>
            <a:ext cx="925630" cy="298218"/>
          </a:xfrm>
          <a:prstGeom prst="rect">
            <a:avLst/>
          </a:prstGeom>
        </p:spPr>
      </p:pic>
      <p:pic>
        <p:nvPicPr>
          <p:cNvPr id="2" name="Picture 1" descr="Background pattern&#10;&#10;Description automatically generated with low confidence">
            <a:extLst>
              <a:ext uri="{FF2B5EF4-FFF2-40B4-BE49-F238E27FC236}">
                <a16:creationId xmlns:a16="http://schemas.microsoft.com/office/drawing/2014/main" id="{FA27D6AD-1376-E6AB-D473-F691B01B4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372663" y="3802002"/>
            <a:ext cx="406401" cy="298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9199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Nyhoff, ADTs, Data Structures and Problem Solving with C++, Second Edition, © 2005 Pearson Education, Inc. All rights reserved. 0-13-140909-3 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03A36-EA2A-074B-B279-C7B2EA295455}" type="slidenum">
              <a:rPr lang="en-US"/>
              <a:pPr/>
              <a:t>34</a:t>
            </a:fld>
            <a:endParaRPr lang="en-US"/>
          </a:p>
        </p:txBody>
      </p:sp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2217"/>
            <a:ext cx="8229600" cy="749299"/>
          </a:xfrm>
        </p:spPr>
        <p:txBody>
          <a:bodyPr/>
          <a:lstStyle/>
          <a:p>
            <a:r>
              <a:rPr lang="en-US" dirty="0"/>
              <a:t>Depth-First Search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0701" y="858665"/>
            <a:ext cx="8145670" cy="2313159"/>
          </a:xfrm>
        </p:spPr>
        <p:txBody>
          <a:bodyPr/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Start from node 1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What is a sequence of nodes which would be visited in DFS?</a:t>
            </a:r>
          </a:p>
        </p:txBody>
      </p:sp>
      <p:pic>
        <p:nvPicPr>
          <p:cNvPr id="73761" name="Picture 3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83088" y="2992438"/>
            <a:ext cx="2882900" cy="3076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</p:pic>
      <p:sp>
        <p:nvSpPr>
          <p:cNvPr id="73762" name="Text Box 34"/>
          <p:cNvSpPr txBox="1">
            <a:spLocks noChangeArrowheads="1"/>
          </p:cNvSpPr>
          <p:nvPr/>
        </p:nvSpPr>
        <p:spPr bwMode="auto">
          <a:xfrm>
            <a:off x="793750" y="3748088"/>
            <a:ext cx="2384425" cy="36671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Click for answer</a:t>
            </a:r>
          </a:p>
        </p:txBody>
      </p:sp>
      <p:sp>
        <p:nvSpPr>
          <p:cNvPr id="73763" name="Text Box 35"/>
          <p:cNvSpPr txBox="1">
            <a:spLocks noChangeArrowheads="1"/>
          </p:cNvSpPr>
          <p:nvPr/>
        </p:nvSpPr>
        <p:spPr bwMode="auto">
          <a:xfrm>
            <a:off x="660400" y="4691063"/>
            <a:ext cx="2713038" cy="36671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A, B, E, F, H, C, D, G</a:t>
            </a:r>
          </a:p>
        </p:txBody>
      </p:sp>
      <p:pic>
        <p:nvPicPr>
          <p:cNvPr id="73764" name="Picture 36"/>
          <p:cNvPicPr>
            <a:picLocks noChangeAspect="1" noChangeArrowheads="1"/>
          </p:cNvPicPr>
          <p:nvPr/>
        </p:nvPicPr>
        <p:blipFill>
          <a:blip r:embed="rId3"/>
          <a:srcRect t="3531" b="3485"/>
          <a:stretch>
            <a:fillRect/>
          </a:stretch>
        </p:blipFill>
        <p:spPr bwMode="auto">
          <a:xfrm>
            <a:off x="4443413" y="2930525"/>
            <a:ext cx="2847975" cy="3148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" dur="5000"/>
                                        <p:tgtEl>
                                          <p:spTgt spid="73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6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Nyhoff, ADTs, Data Structures and Problem Solving with C++, Second Edition, © 2005 Pearson Education, Inc. All rights reserved. 0-13-140909-3 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03A36-EA2A-074B-B279-C7B2EA295455}" type="slidenum">
              <a:rPr lang="en-US"/>
              <a:pPr/>
              <a:t>35</a:t>
            </a:fld>
            <a:endParaRPr lang="en-US"/>
          </a:p>
        </p:txBody>
      </p:sp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2213"/>
            <a:ext cx="8229600" cy="749299"/>
          </a:xfrm>
        </p:spPr>
        <p:txBody>
          <a:bodyPr/>
          <a:lstStyle/>
          <a:p>
            <a:r>
              <a:rPr lang="en-US" dirty="0"/>
              <a:t>Example: Depth-First Search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01512"/>
            <a:ext cx="8145670" cy="2279619"/>
          </a:xfrm>
        </p:spPr>
        <p:txBody>
          <a:bodyPr/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Start from node </a:t>
            </a:r>
            <a:r>
              <a:rPr lang="en-US" dirty="0">
                <a:solidFill>
                  <a:srgbClr val="0070C0"/>
                </a:solidFill>
              </a:rPr>
              <a:t>A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What is a sequence of nodes which would be visited in </a:t>
            </a:r>
            <a:r>
              <a:rPr lang="en-US" dirty="0">
                <a:solidFill>
                  <a:srgbClr val="0070C0"/>
                </a:solidFill>
              </a:rPr>
              <a:t>DFS</a:t>
            </a:r>
            <a:r>
              <a:rPr lang="en-US" dirty="0"/>
              <a:t>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9F4F17-25FF-1040-8B69-73D5006D14A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5826" y="2637184"/>
            <a:ext cx="4061792" cy="31004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CC749C49-386B-5846-96B6-BBE8F01B6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338422"/>
            <a:ext cx="5035826" cy="5993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ＭＳ Ｐゴシック" pitchFamily="4" charset="-128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4" charset="-128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pitchFamily="4" charset="-128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4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4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4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4" charset="-128"/>
              </a:defRPr>
            </a:lvl9pPr>
          </a:lstStyle>
          <a:p>
            <a:pPr>
              <a:buFont typeface="Wingdings" pitchFamily="2" charset="2"/>
              <a:buChar char="Ø"/>
            </a:pPr>
            <a:r>
              <a:rPr lang="en-US" sz="3000" kern="0" dirty="0"/>
              <a:t>What if start from node </a:t>
            </a:r>
            <a:r>
              <a:rPr lang="en-US" sz="3000" kern="0" dirty="0">
                <a:solidFill>
                  <a:srgbClr val="0070C0"/>
                </a:solidFill>
              </a:rPr>
              <a:t>K?</a:t>
            </a:r>
          </a:p>
        </p:txBody>
      </p:sp>
      <p:sp>
        <p:nvSpPr>
          <p:cNvPr id="2" name="Text Box 35">
            <a:extLst>
              <a:ext uri="{FF2B5EF4-FFF2-40B4-BE49-F238E27FC236}">
                <a16:creationId xmlns:a16="http://schemas.microsoft.com/office/drawing/2014/main" id="{D8F269A8-56C8-F85C-9D22-EA19907FE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270" y="3480496"/>
            <a:ext cx="4717774" cy="36933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/>
              <a:t>A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B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C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E </a:t>
            </a:r>
            <a:r>
              <a:rPr lang="en-US" dirty="0">
                <a:sym typeface="Wingdings" pitchFamily="2" charset="2"/>
              </a:rPr>
              <a:t>F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J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K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I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G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H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D </a:t>
            </a:r>
          </a:p>
        </p:txBody>
      </p:sp>
    </p:spTree>
    <p:extLst>
      <p:ext uri="{BB962C8B-B14F-4D97-AF65-F5344CB8AC3E}">
        <p14:creationId xmlns:p14="http://schemas.microsoft.com/office/powerpoint/2010/main" val="572822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Nyhoff, ADTs, Data Structures and Problem Solving with C++, Second Edition, © 2005 Pearson Education, Inc. All rights reserved. 0-13-140909-3 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03A36-EA2A-074B-B279-C7B2EA295455}" type="slidenum">
              <a:rPr lang="en-US"/>
              <a:pPr/>
              <a:t>36</a:t>
            </a:fld>
            <a:endParaRPr lang="en-US"/>
          </a:p>
        </p:txBody>
      </p:sp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2213"/>
            <a:ext cx="8229600" cy="749299"/>
          </a:xfrm>
        </p:spPr>
        <p:txBody>
          <a:bodyPr/>
          <a:lstStyle/>
          <a:p>
            <a:r>
              <a:rPr lang="en-US" dirty="0"/>
              <a:t>Example: Depth-First Search</a:t>
            </a:r>
          </a:p>
        </p:txBody>
      </p:sp>
      <p:pic>
        <p:nvPicPr>
          <p:cNvPr id="5" name="Picture 4" descr="A picture containing text, clock, watch&#10;&#10;Description automatically generated">
            <a:extLst>
              <a:ext uri="{FF2B5EF4-FFF2-40B4-BE49-F238E27FC236}">
                <a16:creationId xmlns:a16="http://schemas.microsoft.com/office/drawing/2014/main" id="{2F9DEA30-BEA5-E62F-B9DA-3EC077202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2000" y="1186381"/>
            <a:ext cx="4320000" cy="38667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C96218-6E71-D1DD-C814-53D9E1772B4D}"/>
              </a:ext>
            </a:extLst>
          </p:cNvPr>
          <p:cNvSpPr txBox="1"/>
          <p:nvPr/>
        </p:nvSpPr>
        <p:spPr>
          <a:xfrm>
            <a:off x="2374317" y="5430987"/>
            <a:ext cx="43953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EG" sz="3600" dirty="0"/>
              <a:t>A B S C D E H G F</a:t>
            </a:r>
          </a:p>
        </p:txBody>
      </p:sp>
    </p:spTree>
    <p:extLst>
      <p:ext uri="{BB962C8B-B14F-4D97-AF65-F5344CB8AC3E}">
        <p14:creationId xmlns:p14="http://schemas.microsoft.com/office/powerpoint/2010/main" val="1150006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Nyhoff, ADTs, Data Structures and Problem Solving with C++, Second Edition, © 2005 Pearson Education, Inc. All rights reserved. 0-13-140909-3 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97186-AB7A-774D-A289-AEEEEEC2496C}" type="slidenum">
              <a:rPr lang="en-US"/>
              <a:pPr/>
              <a:t>37</a:t>
            </a:fld>
            <a:endParaRPr lang="en-US"/>
          </a:p>
        </p:txBody>
      </p:sp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4572"/>
            <a:ext cx="8229600" cy="759032"/>
          </a:xfrm>
        </p:spPr>
        <p:txBody>
          <a:bodyPr/>
          <a:lstStyle/>
          <a:p>
            <a:r>
              <a:rPr lang="en-US" dirty="0"/>
              <a:t>Depth-First Search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23604"/>
            <a:ext cx="8229600" cy="5615295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dirty="0"/>
              <a:t>DFS uses </a:t>
            </a:r>
            <a:r>
              <a:rPr lang="en-US" sz="2800" u="sng" dirty="0">
                <a:solidFill>
                  <a:srgbClr val="0070C0"/>
                </a:solidFill>
              </a:rPr>
              <a:t>backtracking</a:t>
            </a:r>
            <a:r>
              <a:rPr lang="en-US" sz="2800" dirty="0"/>
              <a:t> when necessary to </a:t>
            </a:r>
            <a:r>
              <a:rPr lang="en-US" sz="2800" dirty="0">
                <a:solidFill>
                  <a:srgbClr val="0070C0"/>
                </a:solidFill>
              </a:rPr>
              <a:t>return to some values that were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dirty="0">
                <a:solidFill>
                  <a:srgbClr val="0070C0"/>
                </a:solidFill>
              </a:rPr>
              <a:t>already processed </a:t>
            </a:r>
            <a:r>
              <a:rPr lang="en-US" sz="2400" dirty="0"/>
              <a:t>or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dirty="0">
                <a:solidFill>
                  <a:srgbClr val="0070C0"/>
                </a:solidFill>
              </a:rPr>
              <a:t>skipped</a:t>
            </a:r>
            <a:r>
              <a:rPr lang="en-US" sz="2400" dirty="0"/>
              <a:t> over on an earlier pass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dirty="0"/>
              <a:t>When tracking this with a </a:t>
            </a:r>
            <a:r>
              <a:rPr lang="en-US" sz="2800" dirty="0">
                <a:solidFill>
                  <a:srgbClr val="FF0000"/>
                </a:solidFill>
              </a:rPr>
              <a:t>stack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dirty="0"/>
              <a:t>pop returned item from the stack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dirty="0">
                <a:solidFill>
                  <a:srgbClr val="0070C0"/>
                </a:solidFill>
              </a:rPr>
              <a:t>Recursion</a:t>
            </a:r>
            <a:r>
              <a:rPr lang="en-US" sz="2800" dirty="0"/>
              <a:t> is also a natural technique for this task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dirty="0"/>
              <a:t>Note: </a:t>
            </a:r>
            <a:r>
              <a:rPr lang="en-US" sz="2800" dirty="0">
                <a:solidFill>
                  <a:srgbClr val="0070C0"/>
                </a:solidFill>
              </a:rPr>
              <a:t>DFS</a:t>
            </a:r>
            <a:r>
              <a:rPr lang="en-US" sz="2800" dirty="0"/>
              <a:t> of a </a:t>
            </a:r>
            <a:r>
              <a:rPr lang="en-US" sz="2800" dirty="0">
                <a:solidFill>
                  <a:srgbClr val="0070C0"/>
                </a:solidFill>
              </a:rPr>
              <a:t>tree</a:t>
            </a:r>
            <a:r>
              <a:rPr lang="en-US" sz="2800" dirty="0"/>
              <a:t> would be equivalent to a </a:t>
            </a:r>
            <a:r>
              <a:rPr lang="en-US" sz="2800" dirty="0">
                <a:solidFill>
                  <a:srgbClr val="0070C0"/>
                </a:solidFill>
              </a:rPr>
              <a:t>preorder traversal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Nyhoff, ADTs, Data Structures and Problem Solving with C++, Second Edition, © 2005 Pearson Education, Inc. All rights reserved. 0-13-140909-3 </a:t>
            </a:r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846A1-4512-6F4E-AFBE-6D59FB7D5AF3}" type="slidenum">
              <a:rPr lang="en-US"/>
              <a:pPr/>
              <a:t>38</a:t>
            </a:fld>
            <a:endParaRPr lang="en-US"/>
          </a:p>
        </p:txBody>
      </p:sp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145"/>
            <a:ext cx="8229600" cy="775686"/>
          </a:xfrm>
        </p:spPr>
        <p:txBody>
          <a:bodyPr/>
          <a:lstStyle/>
          <a:p>
            <a:r>
              <a:rPr lang="en-US" dirty="0"/>
              <a:t>Depth-First Search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27100"/>
            <a:ext cx="8343900" cy="5416550"/>
          </a:xfrm>
        </p:spPr>
        <p:txBody>
          <a:bodyPr/>
          <a:lstStyle/>
          <a:p>
            <a:pPr>
              <a:lnSpc>
                <a:spcPct val="150000"/>
              </a:lnSpc>
              <a:buFontTx/>
              <a:buNone/>
            </a:pPr>
            <a:r>
              <a:rPr lang="en-US" dirty="0"/>
              <a:t>Algorithm to perform DFS search of digraph</a:t>
            </a:r>
          </a:p>
        </p:txBody>
      </p:sp>
      <p:sp>
        <p:nvSpPr>
          <p:cNvPr id="75780" name="Rectangle 4"/>
          <p:cNvSpPr>
            <a:spLocks noChangeArrowheads="1"/>
          </p:cNvSpPr>
          <p:nvPr/>
        </p:nvSpPr>
        <p:spPr bwMode="auto">
          <a:xfrm>
            <a:off x="862013" y="2794000"/>
            <a:ext cx="355600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2800" b="1" dirty="0">
                <a:solidFill>
                  <a:srgbClr val="000000"/>
                </a:solidFill>
                <a:latin typeface="Times New Roman" pitchFamily="4" charset="0"/>
              </a:rPr>
              <a:t>1. </a:t>
            </a:r>
            <a:endParaRPr lang="en-US" sz="3200" dirty="0">
              <a:latin typeface="Times New Roman" pitchFamily="4" charset="0"/>
            </a:endParaRPr>
          </a:p>
        </p:txBody>
      </p:sp>
      <p:sp>
        <p:nvSpPr>
          <p:cNvPr id="75781" name="Rectangle 5"/>
          <p:cNvSpPr>
            <a:spLocks noChangeArrowheads="1"/>
          </p:cNvSpPr>
          <p:nvPr/>
        </p:nvSpPr>
        <p:spPr bwMode="auto">
          <a:xfrm>
            <a:off x="1146175" y="2800350"/>
            <a:ext cx="3844925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2800" dirty="0">
                <a:solidFill>
                  <a:srgbClr val="000000"/>
                </a:solidFill>
              </a:rPr>
              <a:t>Visit the start vertex, </a:t>
            </a:r>
            <a:r>
              <a:rPr lang="en-US" sz="2800" b="1" i="1" dirty="0">
                <a:solidFill>
                  <a:srgbClr val="6666FF"/>
                </a:solidFill>
                <a:latin typeface="Courier New" pitchFamily="4" charset="0"/>
              </a:rPr>
              <a:t>v</a:t>
            </a:r>
            <a:endParaRPr lang="en-US" sz="3200" b="1" dirty="0">
              <a:solidFill>
                <a:srgbClr val="6666FF"/>
              </a:solidFill>
              <a:latin typeface="Courier New" pitchFamily="4" charset="0"/>
            </a:endParaRPr>
          </a:p>
        </p:txBody>
      </p:sp>
      <p:sp>
        <p:nvSpPr>
          <p:cNvPr id="75782" name="Rectangle 6"/>
          <p:cNvSpPr>
            <a:spLocks noChangeArrowheads="1"/>
          </p:cNvSpPr>
          <p:nvPr/>
        </p:nvSpPr>
        <p:spPr bwMode="auto">
          <a:xfrm>
            <a:off x="862013" y="3476625"/>
            <a:ext cx="355600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2800" b="1">
                <a:solidFill>
                  <a:srgbClr val="000000"/>
                </a:solidFill>
                <a:latin typeface="Times New Roman" pitchFamily="4" charset="0"/>
              </a:rPr>
              <a:t>2. </a:t>
            </a:r>
            <a:endParaRPr lang="en-US" sz="3200">
              <a:latin typeface="Times New Roman" pitchFamily="4" charset="0"/>
            </a:endParaRPr>
          </a:p>
        </p:txBody>
      </p:sp>
      <p:sp>
        <p:nvSpPr>
          <p:cNvPr id="75783" name="Rectangle 7"/>
          <p:cNvSpPr>
            <a:spLocks noChangeArrowheads="1"/>
          </p:cNvSpPr>
          <p:nvPr/>
        </p:nvSpPr>
        <p:spPr bwMode="auto">
          <a:xfrm>
            <a:off x="1146175" y="3482975"/>
            <a:ext cx="6402388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2800" dirty="0">
                <a:solidFill>
                  <a:srgbClr val="000000"/>
                </a:solidFill>
              </a:rPr>
              <a:t>For each vertex </a:t>
            </a:r>
            <a:r>
              <a:rPr lang="en-US" sz="2800" b="1" i="1" dirty="0">
                <a:solidFill>
                  <a:srgbClr val="6666FF"/>
                </a:solidFill>
                <a:latin typeface="Courier New" pitchFamily="4" charset="0"/>
              </a:rPr>
              <a:t>w</a:t>
            </a:r>
            <a:r>
              <a:rPr lang="en-US" sz="2800" dirty="0">
                <a:solidFill>
                  <a:srgbClr val="000000"/>
                </a:solidFill>
              </a:rPr>
              <a:t> adjacent to </a:t>
            </a:r>
            <a:r>
              <a:rPr lang="en-US" sz="2800" b="1" i="1" dirty="0">
                <a:solidFill>
                  <a:srgbClr val="6666FF"/>
                </a:solidFill>
                <a:latin typeface="Courier New" pitchFamily="4" charset="0"/>
              </a:rPr>
              <a:t>v</a:t>
            </a:r>
            <a:r>
              <a:rPr lang="en-US" sz="2800" dirty="0">
                <a:solidFill>
                  <a:srgbClr val="000000"/>
                </a:solidFill>
              </a:rPr>
              <a:t> do:</a:t>
            </a:r>
          </a:p>
        </p:txBody>
      </p:sp>
      <p:sp>
        <p:nvSpPr>
          <p:cNvPr id="75784" name="Rectangle 8"/>
          <p:cNvSpPr>
            <a:spLocks noChangeArrowheads="1"/>
          </p:cNvSpPr>
          <p:nvPr/>
        </p:nvSpPr>
        <p:spPr bwMode="auto">
          <a:xfrm>
            <a:off x="1878013" y="3919538"/>
            <a:ext cx="285750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2800">
                <a:solidFill>
                  <a:srgbClr val="000000"/>
                </a:solidFill>
              </a:rPr>
              <a:t>If</a:t>
            </a:r>
            <a:r>
              <a:rPr lang="en-US" sz="2800">
                <a:solidFill>
                  <a:srgbClr val="000000"/>
                </a:solidFill>
                <a:latin typeface="Times New Roman" pitchFamily="4" charset="0"/>
              </a:rPr>
              <a:t> </a:t>
            </a:r>
            <a:endParaRPr lang="en-US" sz="3200">
              <a:latin typeface="Times New Roman" pitchFamily="4" charset="0"/>
            </a:endParaRPr>
          </a:p>
        </p:txBody>
      </p:sp>
      <p:sp>
        <p:nvSpPr>
          <p:cNvPr id="75785" name="Rectangle 9"/>
          <p:cNvSpPr>
            <a:spLocks noChangeArrowheads="1"/>
          </p:cNvSpPr>
          <p:nvPr/>
        </p:nvSpPr>
        <p:spPr bwMode="auto">
          <a:xfrm>
            <a:off x="2268469" y="3919538"/>
            <a:ext cx="346075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2800" dirty="0">
                <a:solidFill>
                  <a:srgbClr val="0070C0"/>
                </a:solidFill>
              </a:rPr>
              <a:t>w</a:t>
            </a:r>
            <a:r>
              <a:rPr lang="en-US" sz="2800" i="1" dirty="0">
                <a:solidFill>
                  <a:srgbClr val="000000"/>
                </a:solidFill>
                <a:latin typeface="Times New Roman" pitchFamily="4" charset="0"/>
              </a:rPr>
              <a:t> </a:t>
            </a:r>
            <a:endParaRPr lang="en-US" sz="3200" dirty="0">
              <a:latin typeface="Times New Roman" pitchFamily="4" charset="0"/>
            </a:endParaRPr>
          </a:p>
        </p:txBody>
      </p:sp>
      <p:sp>
        <p:nvSpPr>
          <p:cNvPr id="75786" name="Rectangle 10"/>
          <p:cNvSpPr>
            <a:spLocks noChangeArrowheads="1"/>
          </p:cNvSpPr>
          <p:nvPr/>
        </p:nvSpPr>
        <p:spPr bwMode="auto">
          <a:xfrm>
            <a:off x="2605088" y="3919538"/>
            <a:ext cx="3257550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2800" dirty="0">
                <a:solidFill>
                  <a:srgbClr val="000000"/>
                </a:solidFill>
              </a:rPr>
              <a:t>has not been visited</a:t>
            </a:r>
            <a:r>
              <a:rPr lang="en-US" sz="2800" dirty="0">
                <a:solidFill>
                  <a:srgbClr val="000000"/>
                </a:solidFill>
                <a:latin typeface="Times New Roman" pitchFamily="4" charset="0"/>
              </a:rPr>
              <a:t>,</a:t>
            </a:r>
            <a:endParaRPr lang="en-US" sz="3200" dirty="0">
              <a:latin typeface="Times New Roman" pitchFamily="4" charset="0"/>
            </a:endParaRPr>
          </a:p>
        </p:txBody>
      </p:sp>
      <p:sp>
        <p:nvSpPr>
          <p:cNvPr id="75787" name="Rectangle 11"/>
          <p:cNvSpPr>
            <a:spLocks noChangeArrowheads="1"/>
          </p:cNvSpPr>
          <p:nvPr/>
        </p:nvSpPr>
        <p:spPr bwMode="auto">
          <a:xfrm>
            <a:off x="2894013" y="4356100"/>
            <a:ext cx="5862637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2800">
                <a:solidFill>
                  <a:srgbClr val="000000"/>
                </a:solidFill>
              </a:rPr>
              <a:t>apply the depth-first search algorithm</a:t>
            </a:r>
          </a:p>
        </p:txBody>
      </p:sp>
      <p:sp>
        <p:nvSpPr>
          <p:cNvPr id="75788" name="Rectangle 12"/>
          <p:cNvSpPr>
            <a:spLocks noChangeArrowheads="1"/>
          </p:cNvSpPr>
          <p:nvPr/>
        </p:nvSpPr>
        <p:spPr bwMode="auto">
          <a:xfrm>
            <a:off x="2894013" y="4795838"/>
            <a:ext cx="720725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2800">
                <a:solidFill>
                  <a:srgbClr val="000000"/>
                </a:solidFill>
              </a:rPr>
              <a:t>with</a:t>
            </a:r>
            <a:r>
              <a:rPr lang="en-US" sz="2800">
                <a:solidFill>
                  <a:srgbClr val="000000"/>
                </a:solidFill>
                <a:latin typeface="Times New Roman" pitchFamily="4" charset="0"/>
              </a:rPr>
              <a:t> </a:t>
            </a:r>
            <a:endParaRPr lang="en-US" sz="3200">
              <a:latin typeface="Times New Roman" pitchFamily="4" charset="0"/>
            </a:endParaRPr>
          </a:p>
        </p:txBody>
      </p:sp>
      <p:sp>
        <p:nvSpPr>
          <p:cNvPr id="75789" name="Rectangle 13"/>
          <p:cNvSpPr>
            <a:spLocks noChangeArrowheads="1"/>
          </p:cNvSpPr>
          <p:nvPr/>
        </p:nvSpPr>
        <p:spPr bwMode="auto">
          <a:xfrm>
            <a:off x="3687763" y="4795838"/>
            <a:ext cx="301625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2800" b="1" i="1">
                <a:solidFill>
                  <a:srgbClr val="6666FF"/>
                </a:solidFill>
                <a:latin typeface="Courier New" pitchFamily="4" charset="0"/>
              </a:rPr>
              <a:t>w</a:t>
            </a:r>
            <a:r>
              <a:rPr lang="en-US" sz="2800" i="1">
                <a:solidFill>
                  <a:srgbClr val="000000"/>
                </a:solidFill>
                <a:latin typeface="Times New Roman" pitchFamily="4" charset="0"/>
              </a:rPr>
              <a:t> </a:t>
            </a:r>
            <a:endParaRPr lang="en-US" sz="3200">
              <a:latin typeface="Times New Roman" pitchFamily="4" charset="0"/>
            </a:endParaRPr>
          </a:p>
        </p:txBody>
      </p:sp>
      <p:sp>
        <p:nvSpPr>
          <p:cNvPr id="75790" name="Rectangle 14"/>
          <p:cNvSpPr>
            <a:spLocks noChangeArrowheads="1"/>
          </p:cNvSpPr>
          <p:nvPr/>
        </p:nvSpPr>
        <p:spPr bwMode="auto">
          <a:xfrm>
            <a:off x="4032250" y="4795838"/>
            <a:ext cx="2917825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2800">
                <a:solidFill>
                  <a:srgbClr val="000000"/>
                </a:solidFill>
              </a:rPr>
              <a:t>as the start vertex</a:t>
            </a:r>
            <a:r>
              <a:rPr lang="en-US" sz="2800">
                <a:solidFill>
                  <a:srgbClr val="000000"/>
                </a:solidFill>
                <a:latin typeface="Times New Roman" pitchFamily="4" charset="0"/>
              </a:rPr>
              <a:t>.</a:t>
            </a:r>
            <a:endParaRPr lang="en-US" sz="3200">
              <a:latin typeface="Times New Roman" pitchFamily="4" charset="0"/>
            </a:endParaRPr>
          </a:p>
        </p:txBody>
      </p:sp>
      <p:sp>
        <p:nvSpPr>
          <p:cNvPr id="75791" name="Text Box 15"/>
          <p:cNvSpPr txBox="1">
            <a:spLocks noChangeArrowheads="1"/>
          </p:cNvSpPr>
          <p:nvPr/>
        </p:nvSpPr>
        <p:spPr bwMode="auto">
          <a:xfrm>
            <a:off x="703263" y="5534025"/>
            <a:ext cx="2954337" cy="39687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Note the recursion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Nyhoff, ADTs, Data Structures and Problem Solving with C++, Second Edition, © 2005 Pearson Education, Inc. All rights reserved. 0-13-140909-3 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44E2-6B88-F64A-BFDA-DE3B3F8A9255}" type="slidenum">
              <a:rPr lang="en-US"/>
              <a:pPr/>
              <a:t>39</a:t>
            </a:fld>
            <a:endParaRPr lang="en-US"/>
          </a:p>
        </p:txBody>
      </p:sp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9284"/>
            <a:ext cx="8229600" cy="75097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B</a:t>
            </a:r>
            <a:r>
              <a:rPr lang="en-US" dirty="0"/>
              <a:t>readth-</a:t>
            </a:r>
            <a:r>
              <a:rPr lang="en-US" dirty="0">
                <a:solidFill>
                  <a:srgbClr val="0070C0"/>
                </a:solidFill>
              </a:rPr>
              <a:t>F</a:t>
            </a:r>
            <a:r>
              <a:rPr lang="en-US" dirty="0"/>
              <a:t>irst </a:t>
            </a:r>
            <a:r>
              <a:rPr lang="en-US" dirty="0">
                <a:solidFill>
                  <a:srgbClr val="0070C0"/>
                </a:solidFill>
              </a:rPr>
              <a:t>S</a:t>
            </a:r>
            <a:r>
              <a:rPr lang="en-US" dirty="0"/>
              <a:t>earch (</a:t>
            </a:r>
            <a:r>
              <a:rPr lang="en-US" dirty="0">
                <a:solidFill>
                  <a:srgbClr val="0070C0"/>
                </a:solidFill>
              </a:rPr>
              <a:t>BFS</a:t>
            </a:r>
            <a:r>
              <a:rPr lang="en-US" dirty="0"/>
              <a:t>)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9490" y="945288"/>
            <a:ext cx="8686800" cy="5436461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solidFill>
                  <a:srgbClr val="0070C0"/>
                </a:solidFill>
              </a:rPr>
              <a:t>Start</a:t>
            </a:r>
            <a:r>
              <a:rPr lang="en-US" dirty="0"/>
              <a:t> from a given vertex </a:t>
            </a:r>
            <a:r>
              <a:rPr lang="en-US" b="1" dirty="0">
                <a:solidFill>
                  <a:srgbClr val="6666FF"/>
                </a:solidFill>
                <a:latin typeface="Courier New" pitchFamily="4" charset="0"/>
              </a:rPr>
              <a:t>v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solidFill>
                  <a:srgbClr val="0070C0"/>
                </a:solidFill>
              </a:rPr>
              <a:t>Visit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all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neighbors</a:t>
            </a:r>
            <a:r>
              <a:rPr lang="en-US" dirty="0"/>
              <a:t> of </a:t>
            </a:r>
            <a:r>
              <a:rPr lang="en-US" b="1" dirty="0">
                <a:solidFill>
                  <a:srgbClr val="6666FF"/>
                </a:solidFill>
                <a:latin typeface="Courier New" pitchFamily="4" charset="0"/>
              </a:rPr>
              <a:t>v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Then visit all neighbors of first neighbor </a:t>
            </a:r>
            <a:r>
              <a:rPr lang="en-US" b="1" dirty="0">
                <a:solidFill>
                  <a:srgbClr val="6666FF"/>
                </a:solidFill>
                <a:latin typeface="Courier New" pitchFamily="4" charset="0"/>
              </a:rPr>
              <a:t>w</a:t>
            </a:r>
            <a:r>
              <a:rPr lang="en-US" dirty="0"/>
              <a:t> of </a:t>
            </a:r>
            <a:r>
              <a:rPr lang="en-US" b="1" dirty="0">
                <a:solidFill>
                  <a:srgbClr val="6666FF"/>
                </a:solidFill>
                <a:latin typeface="Courier New" pitchFamily="4" charset="0"/>
              </a:rPr>
              <a:t>v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Then visit all neighbors of second neighbor </a:t>
            </a:r>
            <a:r>
              <a:rPr lang="en-US" i="1" dirty="0"/>
              <a:t>x</a:t>
            </a:r>
            <a:r>
              <a:rPr lang="en-US" dirty="0"/>
              <a:t> of </a:t>
            </a:r>
            <a:r>
              <a:rPr lang="en-US" b="1" dirty="0">
                <a:solidFill>
                  <a:srgbClr val="6666FF"/>
                </a:solidFill>
                <a:latin typeface="Courier New" pitchFamily="4" charset="0"/>
              </a:rPr>
              <a:t>v</a:t>
            </a:r>
            <a:r>
              <a:rPr lang="en-US" dirty="0"/>
              <a:t>   …   etc.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en-US" sz="1500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solidFill>
                  <a:srgbClr val="0070C0"/>
                </a:solidFill>
              </a:rPr>
              <a:t>BFS</a:t>
            </a:r>
            <a:r>
              <a:rPr lang="en-US" dirty="0"/>
              <a:t> visits nodes by level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Nyhoff, ADTs, Data Structures and Problem Solving with C++, Second Edition, © 2005 Pearson Education, Inc. All rights reserved. 0-13-140909-3 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A44E2-6B88-F64A-BFDA-DE3B3F8A9255}" type="slidenum">
              <a:rPr lang="en-US"/>
              <a:pPr/>
              <a:t>40</a:t>
            </a:fld>
            <a:endParaRPr lang="en-US"/>
          </a:p>
        </p:txBody>
      </p:sp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9284"/>
            <a:ext cx="8229600" cy="75097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B</a:t>
            </a:r>
            <a:r>
              <a:rPr lang="en-US" dirty="0"/>
              <a:t>readth-</a:t>
            </a:r>
            <a:r>
              <a:rPr lang="en-US" dirty="0">
                <a:solidFill>
                  <a:srgbClr val="0070C0"/>
                </a:solidFill>
              </a:rPr>
              <a:t>F</a:t>
            </a:r>
            <a:r>
              <a:rPr lang="en-US" dirty="0"/>
              <a:t>irst </a:t>
            </a:r>
            <a:r>
              <a:rPr lang="en-US" dirty="0">
                <a:solidFill>
                  <a:srgbClr val="0070C0"/>
                </a:solidFill>
              </a:rPr>
              <a:t>S</a:t>
            </a:r>
            <a:r>
              <a:rPr lang="en-US" dirty="0"/>
              <a:t>earch (</a:t>
            </a:r>
            <a:r>
              <a:rPr lang="en-US" dirty="0">
                <a:solidFill>
                  <a:srgbClr val="0070C0"/>
                </a:solidFill>
              </a:rPr>
              <a:t>BFS</a:t>
            </a:r>
            <a:r>
              <a:rPr lang="en-US" dirty="0"/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D5345D-100F-2444-B920-3B3A98230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00" y="1869944"/>
            <a:ext cx="7920000" cy="31181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52843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Nyhoff, ADTs, Data Structures and Problem Solving with C++, Second Edition, © 2005 Pearson Education, Inc. All rights reserved. 0-13-140909-3 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7327A-10F7-0148-A371-60D561EEB855}" type="slidenum">
              <a:rPr lang="en-US"/>
              <a:pPr/>
              <a:t>41</a:t>
            </a:fld>
            <a:endParaRPr lang="en-US"/>
          </a:p>
        </p:txBody>
      </p:sp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500"/>
            <a:ext cx="8229600" cy="749299"/>
          </a:xfrm>
        </p:spPr>
        <p:txBody>
          <a:bodyPr/>
          <a:lstStyle/>
          <a:p>
            <a:r>
              <a:rPr lang="en-US" dirty="0"/>
              <a:t>Breadth-First Search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" y="885824"/>
            <a:ext cx="8686800" cy="2224087"/>
          </a:xfrm>
        </p:spPr>
        <p:txBody>
          <a:bodyPr/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Start from node containing </a:t>
            </a:r>
            <a:r>
              <a:rPr lang="en-US" dirty="0">
                <a:solidFill>
                  <a:srgbClr val="0070C0"/>
                </a:solidFill>
              </a:rPr>
              <a:t>A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What is a sequence of nodes which would be visited in </a:t>
            </a:r>
            <a:r>
              <a:rPr lang="en-US" dirty="0">
                <a:solidFill>
                  <a:srgbClr val="0070C0"/>
                </a:solidFill>
              </a:rPr>
              <a:t>BFS</a:t>
            </a:r>
            <a:r>
              <a:rPr lang="en-US" dirty="0"/>
              <a:t>?</a:t>
            </a:r>
          </a:p>
        </p:txBody>
      </p:sp>
      <p:pic>
        <p:nvPicPr>
          <p:cNvPr id="77857" name="Picture 3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33888" y="3316288"/>
            <a:ext cx="3340100" cy="263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</p:pic>
      <p:sp>
        <p:nvSpPr>
          <p:cNvPr id="77858" name="Text Box 34"/>
          <p:cNvSpPr txBox="1">
            <a:spLocks noChangeArrowheads="1"/>
          </p:cNvSpPr>
          <p:nvPr/>
        </p:nvSpPr>
        <p:spPr bwMode="auto">
          <a:xfrm>
            <a:off x="793750" y="3748088"/>
            <a:ext cx="2384425" cy="36671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Click for answer</a:t>
            </a:r>
          </a:p>
        </p:txBody>
      </p:sp>
      <p:sp>
        <p:nvSpPr>
          <p:cNvPr id="77859" name="Text Box 35"/>
          <p:cNvSpPr txBox="1">
            <a:spLocks noChangeArrowheads="1"/>
          </p:cNvSpPr>
          <p:nvPr/>
        </p:nvSpPr>
        <p:spPr bwMode="auto">
          <a:xfrm>
            <a:off x="312928" y="4752977"/>
            <a:ext cx="3521076" cy="46166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/>
              <a:t>A, B, D, E, F, C, H, G, I</a:t>
            </a:r>
          </a:p>
        </p:txBody>
      </p:sp>
      <p:pic>
        <p:nvPicPr>
          <p:cNvPr id="77860" name="Picture 3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7838" y="2963863"/>
            <a:ext cx="3592512" cy="3351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" dur="5000"/>
                                        <p:tgtEl>
                                          <p:spTgt spid="77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5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Nyhoff, ADTs, Data Structures and Problem Solving with C++, Second Edition, © 2005 Pearson Education, Inc. All rights reserved. 0-13-140909-3 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7327A-10F7-0148-A371-60D561EEB855}" type="slidenum">
              <a:rPr lang="en-US"/>
              <a:pPr/>
              <a:t>42</a:t>
            </a:fld>
            <a:endParaRPr lang="en-US"/>
          </a:p>
        </p:txBody>
      </p:sp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500"/>
            <a:ext cx="8229600" cy="735308"/>
          </a:xfrm>
        </p:spPr>
        <p:txBody>
          <a:bodyPr/>
          <a:lstStyle/>
          <a:p>
            <a:r>
              <a:rPr lang="en-US" dirty="0"/>
              <a:t>Example: Breadth-First Search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2276" y="848123"/>
            <a:ext cx="8686800" cy="2285771"/>
          </a:xfrm>
        </p:spPr>
        <p:txBody>
          <a:bodyPr/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Start from node containing </a:t>
            </a:r>
            <a:r>
              <a:rPr lang="en-US" dirty="0">
                <a:solidFill>
                  <a:srgbClr val="0070C0"/>
                </a:solidFill>
              </a:rPr>
              <a:t>A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What is a sequence of nodes which would be visited in </a:t>
            </a:r>
            <a:r>
              <a:rPr lang="en-US" dirty="0">
                <a:solidFill>
                  <a:srgbClr val="0070C0"/>
                </a:solidFill>
              </a:rPr>
              <a:t>BFS</a:t>
            </a:r>
            <a:r>
              <a:rPr lang="en-US" dirty="0"/>
              <a:t>?</a:t>
            </a:r>
          </a:p>
        </p:txBody>
      </p:sp>
      <p:sp>
        <p:nvSpPr>
          <p:cNvPr id="77859" name="Text Box 35"/>
          <p:cNvSpPr txBox="1">
            <a:spLocks noChangeArrowheads="1"/>
          </p:cNvSpPr>
          <p:nvPr/>
        </p:nvSpPr>
        <p:spPr bwMode="auto">
          <a:xfrm>
            <a:off x="172276" y="3698482"/>
            <a:ext cx="4784035" cy="36933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/>
              <a:t>A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B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D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C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E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F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G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I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J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H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K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588743-128C-A545-88A2-D38ED4D2804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843" y="2902226"/>
            <a:ext cx="3775517" cy="317843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1E03B805-DED3-3949-B12D-3A0C48934B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550840"/>
            <a:ext cx="4379844" cy="5993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ＭＳ Ｐゴシック" pitchFamily="4" charset="-128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4" charset="-128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pitchFamily="4" charset="-128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4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4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4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4" charset="-128"/>
              </a:defRPr>
            </a:lvl9pPr>
          </a:lstStyle>
          <a:p>
            <a:pPr>
              <a:buFont typeface="Wingdings" pitchFamily="2" charset="2"/>
              <a:buChar char="Ø"/>
            </a:pPr>
            <a:r>
              <a:rPr lang="en-US" kern="0" dirty="0"/>
              <a:t>If start from node </a:t>
            </a:r>
            <a:r>
              <a:rPr lang="en-US" kern="0" dirty="0">
                <a:solidFill>
                  <a:srgbClr val="0070C0"/>
                </a:solidFill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1607360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0"/>
                                        <p:tgtEl>
                                          <p:spTgt spid="77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59" grpId="0" animBg="1"/>
      <p:bldP spid="1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Nyhoff, ADTs, Data Structures and Problem Solving with C++, Second Edition, © 2005 Pearson Education, Inc. All rights reserved. 0-13-140909-3 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03A36-EA2A-074B-B279-C7B2EA295455}" type="slidenum">
              <a:rPr lang="en-US"/>
              <a:pPr/>
              <a:t>43</a:t>
            </a:fld>
            <a:endParaRPr lang="en-US"/>
          </a:p>
        </p:txBody>
      </p:sp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2213"/>
            <a:ext cx="8229600" cy="749299"/>
          </a:xfrm>
        </p:spPr>
        <p:txBody>
          <a:bodyPr/>
          <a:lstStyle/>
          <a:p>
            <a:r>
              <a:rPr lang="en-US" dirty="0"/>
              <a:t>Example: Breadth-First Search</a:t>
            </a:r>
          </a:p>
        </p:txBody>
      </p:sp>
      <p:pic>
        <p:nvPicPr>
          <p:cNvPr id="5" name="Picture 4" descr="A picture containing text, clock, watch&#10;&#10;Description automatically generated">
            <a:extLst>
              <a:ext uri="{FF2B5EF4-FFF2-40B4-BE49-F238E27FC236}">
                <a16:creationId xmlns:a16="http://schemas.microsoft.com/office/drawing/2014/main" id="{2F9DEA30-BEA5-E62F-B9DA-3EC077202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2000" y="1186381"/>
            <a:ext cx="4320000" cy="38667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C96218-6E71-D1DD-C814-53D9E1772B4D}"/>
              </a:ext>
            </a:extLst>
          </p:cNvPr>
          <p:cNvSpPr txBox="1"/>
          <p:nvPr/>
        </p:nvSpPr>
        <p:spPr>
          <a:xfrm>
            <a:off x="3139289" y="5432470"/>
            <a:ext cx="28654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A B S C G D E F H</a:t>
            </a:r>
            <a:endParaRPr lang="en-EG" sz="2400" dirty="0"/>
          </a:p>
        </p:txBody>
      </p:sp>
    </p:spTree>
    <p:extLst>
      <p:ext uri="{BB962C8B-B14F-4D97-AF65-F5344CB8AC3E}">
        <p14:creationId xmlns:p14="http://schemas.microsoft.com/office/powerpoint/2010/main" val="1987329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Nyhoff, ADTs, Data Structures and Problem Solving with C++, Second Edition, © 2005 Pearson Education, Inc. All rights reserved. 0-13-140909-3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A66BC-D43D-F846-BA58-7060BC9FFBCB}" type="slidenum">
              <a:rPr lang="en-US"/>
              <a:pPr/>
              <a:t>44</a:t>
            </a:fld>
            <a:endParaRPr lang="en-US"/>
          </a:p>
        </p:txBody>
      </p:sp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01793"/>
            <a:ext cx="8229600" cy="825113"/>
          </a:xfrm>
        </p:spPr>
        <p:txBody>
          <a:bodyPr/>
          <a:lstStyle/>
          <a:p>
            <a:r>
              <a:rPr lang="en-US" dirty="0"/>
              <a:t>Breadth-First Search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26906"/>
            <a:ext cx="8686800" cy="484524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solidFill>
                  <a:srgbClr val="0070C0"/>
                </a:solidFill>
              </a:rPr>
              <a:t>While visiting </a:t>
            </a:r>
            <a:r>
              <a:rPr lang="en-US" dirty="0"/>
              <a:t>each node on a given level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>
                <a:solidFill>
                  <a:srgbClr val="0070C0"/>
                </a:solidFill>
              </a:rPr>
              <a:t>store</a:t>
            </a:r>
            <a:r>
              <a:rPr lang="en-US" dirty="0"/>
              <a:t> it so that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/>
              <a:t>we can </a:t>
            </a:r>
            <a:r>
              <a:rPr lang="en-US" dirty="0">
                <a:solidFill>
                  <a:srgbClr val="0070C0"/>
                </a:solidFill>
              </a:rPr>
              <a:t>return</a:t>
            </a:r>
            <a:r>
              <a:rPr lang="en-US" dirty="0"/>
              <a:t> to it after completing this level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/>
              <a:t>so that </a:t>
            </a:r>
            <a:r>
              <a:rPr lang="en-US" dirty="0">
                <a:solidFill>
                  <a:srgbClr val="0070C0"/>
                </a:solidFill>
              </a:rPr>
              <a:t>nodes adjacent </a:t>
            </a:r>
            <a:r>
              <a:rPr lang="en-US" dirty="0"/>
              <a:t>to it can be visited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First node visited on given level should be</a:t>
            </a:r>
            <a:br>
              <a:rPr lang="en-US" dirty="0"/>
            </a:br>
            <a:r>
              <a:rPr lang="en-US" dirty="0"/>
              <a:t>First node to which we return </a:t>
            </a:r>
            <a:br>
              <a:rPr lang="en-US" dirty="0"/>
            </a:br>
            <a:br>
              <a:rPr lang="en-US" sz="1400" dirty="0"/>
            </a:br>
            <a:r>
              <a:rPr lang="en-US" dirty="0"/>
              <a:t>What data structure does this imply?</a:t>
            </a:r>
          </a:p>
        </p:txBody>
      </p:sp>
      <p:sp>
        <p:nvSpPr>
          <p:cNvPr id="78852" name="Text Box 4"/>
          <p:cNvSpPr txBox="1">
            <a:spLocks noChangeArrowheads="1"/>
          </p:cNvSpPr>
          <p:nvPr/>
        </p:nvSpPr>
        <p:spPr bwMode="auto">
          <a:xfrm>
            <a:off x="3468688" y="5735079"/>
            <a:ext cx="2065337" cy="519113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>
                <a:solidFill>
                  <a:srgbClr val="FF0000"/>
                </a:solidFill>
              </a:rPr>
              <a:t>A queue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Nyhoff, ADTs, Data Structures and Problem Solving with C++, Second Edition, © 2005 Pearson Education, Inc. All rights reserved. 0-13-140909-3 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B879C-AFD1-3C4D-AEB4-EDB2756C7FED}" type="slidenum">
              <a:rPr lang="en-US"/>
              <a:pPr/>
              <a:t>45</a:t>
            </a:fld>
            <a:endParaRPr lang="en-US"/>
          </a:p>
        </p:txBody>
      </p:sp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9858"/>
            <a:ext cx="8229600" cy="775686"/>
          </a:xfrm>
        </p:spPr>
        <p:txBody>
          <a:bodyPr/>
          <a:lstStyle/>
          <a:p>
            <a:r>
              <a:rPr lang="en-US" dirty="0"/>
              <a:t>Breadth-First Search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10909"/>
            <a:ext cx="8229600" cy="5675744"/>
          </a:xfrm>
        </p:spPr>
        <p:txBody>
          <a:bodyPr>
            <a:normAutofit fontScale="92500" lnSpcReduction="10000"/>
          </a:bodyPr>
          <a:lstStyle/>
          <a:p>
            <a:pPr marL="660400" indent="-660400">
              <a:lnSpc>
                <a:spcPct val="150000"/>
              </a:lnSpc>
              <a:buFontTx/>
              <a:buNone/>
            </a:pPr>
            <a:r>
              <a:rPr lang="en-US" sz="2800" dirty="0"/>
              <a:t>Algorithm for </a:t>
            </a:r>
            <a:r>
              <a:rPr lang="en-US" sz="2800" dirty="0">
                <a:solidFill>
                  <a:srgbClr val="0070C0"/>
                </a:solidFill>
              </a:rPr>
              <a:t>BFS</a:t>
            </a:r>
            <a:r>
              <a:rPr lang="en-US" sz="2800" dirty="0"/>
              <a:t> search of a diagraph</a:t>
            </a:r>
          </a:p>
          <a:p>
            <a:pPr marL="660400" indent="-660400">
              <a:lnSpc>
                <a:spcPct val="150000"/>
              </a:lnSpc>
              <a:buFontTx/>
              <a:buAutoNum type="arabicPeriod"/>
            </a:pPr>
            <a:r>
              <a:rPr lang="en-US" sz="2800" dirty="0"/>
              <a:t>Visit the </a:t>
            </a:r>
            <a:r>
              <a:rPr lang="en-US" sz="2800" dirty="0">
                <a:solidFill>
                  <a:srgbClr val="0070C0"/>
                </a:solidFill>
              </a:rPr>
              <a:t>start</a:t>
            </a:r>
            <a:r>
              <a:rPr lang="en-US" sz="2800" dirty="0"/>
              <a:t> vertex</a:t>
            </a:r>
          </a:p>
          <a:p>
            <a:pPr marL="660400" indent="-660400">
              <a:lnSpc>
                <a:spcPct val="150000"/>
              </a:lnSpc>
              <a:buFontTx/>
              <a:buAutoNum type="arabicPeriod"/>
            </a:pPr>
            <a:r>
              <a:rPr lang="en-US" sz="2800" dirty="0"/>
              <a:t>Initialize </a:t>
            </a:r>
            <a:r>
              <a:rPr lang="en-US" sz="2800" dirty="0">
                <a:solidFill>
                  <a:srgbClr val="0070C0"/>
                </a:solidFill>
              </a:rPr>
              <a:t>queue</a:t>
            </a:r>
            <a:r>
              <a:rPr lang="en-US" sz="2800" dirty="0"/>
              <a:t> to contain only the start vertex</a:t>
            </a:r>
          </a:p>
          <a:p>
            <a:pPr marL="660400" indent="-660400">
              <a:lnSpc>
                <a:spcPct val="150000"/>
              </a:lnSpc>
              <a:buFontTx/>
              <a:buAutoNum type="arabicPeriod"/>
            </a:pPr>
            <a:r>
              <a:rPr lang="en-US" sz="2800" dirty="0"/>
              <a:t>While queue not empty do</a:t>
            </a:r>
          </a:p>
          <a:p>
            <a:pPr marL="1035050" lvl="1" indent="-577850">
              <a:lnSpc>
                <a:spcPct val="150000"/>
              </a:lnSpc>
              <a:buFontTx/>
              <a:buAutoNum type="alphaLcPeriod"/>
            </a:pPr>
            <a:r>
              <a:rPr lang="en-US" sz="2400" dirty="0"/>
              <a:t>Remove a vertex </a:t>
            </a:r>
            <a:r>
              <a:rPr lang="en-US" sz="2400" b="1" i="1" dirty="0">
                <a:solidFill>
                  <a:srgbClr val="6666FF"/>
                </a:solidFill>
                <a:latin typeface="Courier New" pitchFamily="4" charset="0"/>
              </a:rPr>
              <a:t>v</a:t>
            </a:r>
            <a:r>
              <a:rPr lang="en-US" sz="2400" dirty="0"/>
              <a:t> from the queue</a:t>
            </a:r>
          </a:p>
          <a:p>
            <a:pPr marL="1035050" lvl="1" indent="-577850">
              <a:lnSpc>
                <a:spcPct val="150000"/>
              </a:lnSpc>
              <a:buFontTx/>
              <a:buAutoNum type="alphaLcPeriod"/>
            </a:pPr>
            <a:r>
              <a:rPr lang="en-US" sz="2400" dirty="0"/>
              <a:t>For all vertices </a:t>
            </a:r>
            <a:r>
              <a:rPr lang="en-US" sz="2400" b="1" i="1" dirty="0">
                <a:solidFill>
                  <a:srgbClr val="6666FF"/>
                </a:solidFill>
                <a:latin typeface="Courier New" pitchFamily="4" charset="0"/>
              </a:rPr>
              <a:t>w</a:t>
            </a:r>
            <a:r>
              <a:rPr lang="en-US" sz="2400" dirty="0"/>
              <a:t> adjacent to </a:t>
            </a:r>
            <a:r>
              <a:rPr lang="en-US" sz="2400" b="1" i="1" dirty="0">
                <a:solidFill>
                  <a:srgbClr val="6666FF"/>
                </a:solidFill>
                <a:latin typeface="Courier New" pitchFamily="4" charset="0"/>
              </a:rPr>
              <a:t>v</a:t>
            </a:r>
            <a:r>
              <a:rPr lang="en-US" sz="2400" dirty="0"/>
              <a:t> do:</a:t>
            </a:r>
            <a:br>
              <a:rPr lang="en-US" sz="2400" dirty="0"/>
            </a:br>
            <a:r>
              <a:rPr lang="en-US" sz="2400" dirty="0"/>
              <a:t>      If </a:t>
            </a:r>
            <a:r>
              <a:rPr lang="en-US" sz="2400" b="1" i="1" dirty="0">
                <a:solidFill>
                  <a:srgbClr val="6666FF"/>
                </a:solidFill>
                <a:latin typeface="Courier New" pitchFamily="4" charset="0"/>
              </a:rPr>
              <a:t>w </a:t>
            </a:r>
            <a:r>
              <a:rPr lang="en-US" sz="2400" dirty="0"/>
              <a:t>has not been visited, then:</a:t>
            </a:r>
          </a:p>
          <a:p>
            <a:pPr marL="1409700" lvl="2" indent="-495300">
              <a:lnSpc>
                <a:spcPct val="150000"/>
              </a:lnSpc>
              <a:buFontTx/>
              <a:buAutoNum type="romanLcPeriod"/>
            </a:pPr>
            <a:r>
              <a:rPr lang="en-US" sz="2000" dirty="0"/>
              <a:t>Visit </a:t>
            </a:r>
            <a:r>
              <a:rPr lang="en-US" b="1" i="1" dirty="0">
                <a:solidFill>
                  <a:srgbClr val="6666FF"/>
                </a:solidFill>
                <a:latin typeface="Courier New" pitchFamily="4" charset="0"/>
              </a:rPr>
              <a:t>w</a:t>
            </a:r>
          </a:p>
          <a:p>
            <a:pPr marL="1409700" lvl="2" indent="-495300">
              <a:lnSpc>
                <a:spcPct val="150000"/>
              </a:lnSpc>
              <a:buFontTx/>
              <a:buAutoNum type="romanLcPeriod"/>
            </a:pPr>
            <a:r>
              <a:rPr lang="en-US" sz="2000" dirty="0"/>
              <a:t>Add </a:t>
            </a:r>
            <a:r>
              <a:rPr lang="en-US" b="1" i="1" dirty="0">
                <a:solidFill>
                  <a:srgbClr val="6666FF"/>
                </a:solidFill>
                <a:latin typeface="Courier New" pitchFamily="4" charset="0"/>
              </a:rPr>
              <a:t>w </a:t>
            </a:r>
            <a:r>
              <a:rPr lang="en-US" sz="2000" dirty="0"/>
              <a:t>to queue</a:t>
            </a:r>
          </a:p>
          <a:p>
            <a:pPr marL="1035050" lvl="1" indent="-577850">
              <a:lnSpc>
                <a:spcPct val="150000"/>
              </a:lnSpc>
              <a:buFontTx/>
              <a:buNone/>
            </a:pPr>
            <a:r>
              <a:rPr lang="en-US" sz="2400" dirty="0"/>
              <a:t>End while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Nyhoff, ADTs, Data Structures and Problem Solving with C++, Second Edition, © 2005 Pearson Education, Inc. All rights reserved. 0-13-140909-3 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4502B-4239-904C-BBAC-DF32E01B438D}" type="slidenum">
              <a:rPr lang="en-US"/>
              <a:pPr/>
              <a:t>46</a:t>
            </a:fld>
            <a:endParaRPr lang="en-US"/>
          </a:p>
        </p:txBody>
      </p:sp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6707"/>
            <a:ext cx="8229600" cy="687944"/>
          </a:xfrm>
        </p:spPr>
        <p:txBody>
          <a:bodyPr/>
          <a:lstStyle/>
          <a:p>
            <a:r>
              <a:rPr lang="en-US" dirty="0"/>
              <a:t>Graph Traversal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792449"/>
            <a:ext cx="8229600" cy="5689185"/>
          </a:xfrm>
        </p:spPr>
        <p:txBody>
          <a:bodyPr>
            <a:normAutofit fontScale="92500" lnSpcReduction="20000"/>
          </a:bodyPr>
          <a:lstStyle/>
          <a:p>
            <a:pPr marL="609600" indent="-609600">
              <a:lnSpc>
                <a:spcPct val="150000"/>
              </a:lnSpc>
              <a:buFontTx/>
              <a:buNone/>
            </a:pPr>
            <a:r>
              <a:rPr lang="en-US" sz="2800" dirty="0"/>
              <a:t>Algorithm to traverse graph must: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dirty="0"/>
              <a:t>visit each vertex exactly once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dirty="0">
                <a:solidFill>
                  <a:srgbClr val="0070C0"/>
                </a:solidFill>
              </a:rPr>
              <a:t>BFS</a:t>
            </a:r>
            <a:r>
              <a:rPr lang="en-US" sz="2400" dirty="0"/>
              <a:t> or </a:t>
            </a:r>
            <a:r>
              <a:rPr lang="en-US" sz="2400" dirty="0">
                <a:solidFill>
                  <a:srgbClr val="0070C0"/>
                </a:solidFill>
              </a:rPr>
              <a:t>DFS</a:t>
            </a:r>
            <a:r>
              <a:rPr lang="en-US" sz="2400" dirty="0"/>
              <a:t> forms basis of traversal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dirty="0"/>
              <a:t>Mark vertices when they have been </a:t>
            </a:r>
            <a:r>
              <a:rPr lang="en-US" sz="2400" dirty="0">
                <a:solidFill>
                  <a:srgbClr val="0070C0"/>
                </a:solidFill>
              </a:rPr>
              <a:t>visited</a:t>
            </a:r>
          </a:p>
          <a:p>
            <a:pPr marL="609600" indent="-609600">
              <a:lnSpc>
                <a:spcPct val="150000"/>
              </a:lnSpc>
              <a:buFontTx/>
              <a:buAutoNum type="arabicPeriod"/>
            </a:pPr>
            <a:r>
              <a:rPr lang="en-US" sz="2800" dirty="0"/>
              <a:t>Initialize an array (vector) </a:t>
            </a:r>
            <a:r>
              <a:rPr lang="en-US" sz="2800" b="1" dirty="0">
                <a:solidFill>
                  <a:srgbClr val="6666FF"/>
                </a:solidFill>
                <a:latin typeface="Courier New" pitchFamily="4" charset="0"/>
              </a:rPr>
              <a:t>unvisited</a:t>
            </a:r>
            <a:br>
              <a:rPr lang="en-US" sz="2400" b="1" i="1" dirty="0">
                <a:solidFill>
                  <a:srgbClr val="6666FF"/>
                </a:solidFill>
                <a:latin typeface="Courier New" pitchFamily="4" charset="0"/>
              </a:rPr>
            </a:br>
            <a:r>
              <a:rPr lang="en-US" sz="2800" b="1" dirty="0" err="1">
                <a:solidFill>
                  <a:srgbClr val="6666FF"/>
                </a:solidFill>
                <a:latin typeface="Courier New" pitchFamily="4" charset="0"/>
              </a:rPr>
              <a:t>unvisited[i</a:t>
            </a:r>
            <a:r>
              <a:rPr lang="en-US" sz="2800" b="1" dirty="0">
                <a:solidFill>
                  <a:srgbClr val="6666FF"/>
                </a:solidFill>
                <a:latin typeface="Courier New" pitchFamily="4" charset="0"/>
              </a:rPr>
              <a:t>]</a:t>
            </a:r>
            <a:r>
              <a:rPr lang="en-US" sz="2800" dirty="0"/>
              <a:t> true for each vertex </a:t>
            </a:r>
            <a:r>
              <a:rPr lang="en-US" sz="2800" b="1" dirty="0" err="1">
                <a:solidFill>
                  <a:srgbClr val="6666FF"/>
                </a:solidFill>
                <a:latin typeface="Courier New" pitchFamily="4" charset="0"/>
              </a:rPr>
              <a:t>i</a:t>
            </a:r>
            <a:endParaRPr lang="en-US" sz="2800" b="1" dirty="0">
              <a:solidFill>
                <a:srgbClr val="6666FF"/>
              </a:solidFill>
              <a:latin typeface="Courier New" pitchFamily="4" charset="0"/>
            </a:endParaRPr>
          </a:p>
          <a:p>
            <a:pPr marL="609600" indent="-609600">
              <a:lnSpc>
                <a:spcPct val="150000"/>
              </a:lnSpc>
              <a:buFontTx/>
              <a:buAutoNum type="arabicPeriod"/>
            </a:pPr>
            <a:r>
              <a:rPr lang="en-US" sz="2800" dirty="0"/>
              <a:t>While some element of </a:t>
            </a:r>
            <a:r>
              <a:rPr lang="en-US" sz="2800" b="1" dirty="0">
                <a:solidFill>
                  <a:srgbClr val="6666FF"/>
                </a:solidFill>
                <a:latin typeface="Courier New" pitchFamily="4" charset="0"/>
              </a:rPr>
              <a:t>unvisited</a:t>
            </a:r>
            <a:r>
              <a:rPr lang="en-US" sz="2800" dirty="0"/>
              <a:t> is true do</a:t>
            </a:r>
          </a:p>
          <a:p>
            <a:pPr marL="990600" lvl="1" indent="-533400">
              <a:lnSpc>
                <a:spcPct val="150000"/>
              </a:lnSpc>
              <a:buFontTx/>
              <a:buAutoNum type="alphaLcPeriod"/>
            </a:pPr>
            <a:r>
              <a:rPr lang="en-US" sz="2400" dirty="0"/>
              <a:t>Select an unvisited vertex </a:t>
            </a:r>
            <a:r>
              <a:rPr lang="en-US" b="1" dirty="0" err="1">
                <a:solidFill>
                  <a:srgbClr val="6666FF"/>
                </a:solidFill>
                <a:latin typeface="Courier New" pitchFamily="4" charset="0"/>
              </a:rPr>
              <a:t>v</a:t>
            </a:r>
            <a:endParaRPr lang="en-US" b="1" dirty="0">
              <a:solidFill>
                <a:srgbClr val="6666FF"/>
              </a:solidFill>
              <a:latin typeface="Courier New" pitchFamily="4" charset="0"/>
            </a:endParaRPr>
          </a:p>
          <a:p>
            <a:pPr marL="990600" lvl="1" indent="-533400">
              <a:lnSpc>
                <a:spcPct val="150000"/>
              </a:lnSpc>
              <a:buFontTx/>
              <a:buAutoNum type="alphaLcPeriod"/>
            </a:pPr>
            <a:r>
              <a:rPr lang="en-US" sz="2400" dirty="0"/>
              <a:t>Use </a:t>
            </a:r>
            <a:r>
              <a:rPr lang="en-US" sz="2400" dirty="0">
                <a:solidFill>
                  <a:srgbClr val="0070C0"/>
                </a:solidFill>
              </a:rPr>
              <a:t>BFS</a:t>
            </a:r>
            <a:r>
              <a:rPr lang="en-US" sz="2400" dirty="0"/>
              <a:t> or </a:t>
            </a:r>
            <a:r>
              <a:rPr lang="en-US" sz="2400" dirty="0">
                <a:solidFill>
                  <a:srgbClr val="0070C0"/>
                </a:solidFill>
              </a:rPr>
              <a:t>DFS</a:t>
            </a:r>
            <a:r>
              <a:rPr lang="en-US" sz="2400" dirty="0"/>
              <a:t> to visit all vertices reachable from </a:t>
            </a:r>
            <a:r>
              <a:rPr lang="en-US" b="1" dirty="0" err="1">
                <a:solidFill>
                  <a:srgbClr val="6666FF"/>
                </a:solidFill>
                <a:latin typeface="Courier New" pitchFamily="4" charset="0"/>
              </a:rPr>
              <a:t>v</a:t>
            </a:r>
            <a:endParaRPr lang="en-US" b="1" dirty="0">
              <a:solidFill>
                <a:srgbClr val="6666FF"/>
              </a:solidFill>
              <a:latin typeface="Courier New" pitchFamily="4" charset="0"/>
            </a:endParaRPr>
          </a:p>
          <a:p>
            <a:pPr marL="990600" lvl="1" indent="-533400">
              <a:lnSpc>
                <a:spcPct val="150000"/>
              </a:lnSpc>
              <a:buFontTx/>
              <a:buNone/>
            </a:pPr>
            <a:r>
              <a:rPr lang="en-US" sz="2400" dirty="0"/>
              <a:t>End while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yhoffds2ec">
  <a:themeElements>
    <a:clrScheme name="Nyhoffds2e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Nyhoffds2e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Nyhoffds2e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yhoffds2ec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yhoffds2ec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yhoffds2ec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yhoffds2ec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yhoffds2ec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yhoffds2ec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yhoffds2ec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yhoffds2ec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yhoffds2ec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yhoffds2ec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yhoffds2ec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Nyhoffds2ec</Template>
  <TotalTime>1917</TotalTime>
  <Words>3050</Words>
  <Application>Microsoft Office PowerPoint</Application>
  <PresentationFormat>On-screen Show (4:3)</PresentationFormat>
  <Paragraphs>571</Paragraphs>
  <Slides>46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3" baseType="lpstr">
      <vt:lpstr>Arial</vt:lpstr>
      <vt:lpstr>Cambria Math</vt:lpstr>
      <vt:lpstr>Courier New</vt:lpstr>
      <vt:lpstr>Symbol</vt:lpstr>
      <vt:lpstr>Times New Roman</vt:lpstr>
      <vt:lpstr>Wingdings</vt:lpstr>
      <vt:lpstr>Nyhoffds2ec</vt:lpstr>
      <vt:lpstr>Misr International University (MIU)  Faculty of Computer Science   SWE 210: Data Structures and Algorithms  Dr. Ashraf AbdelRaouf, Dr. Osama El-Ghonimy, Dr. Sarah Nabil</vt:lpstr>
      <vt:lpstr>Lecture Contents</vt:lpstr>
      <vt:lpstr>Lecture Objectives</vt:lpstr>
      <vt:lpstr>Graphs: Basic Definitions</vt:lpstr>
      <vt:lpstr>Graphs: Basic Definitions</vt:lpstr>
      <vt:lpstr>Graphs: Basic Definitions graph G (V, E)</vt:lpstr>
      <vt:lpstr>Graphs: Basic Definitions Unweighted Graph</vt:lpstr>
      <vt:lpstr>Graphs: Basic Definitions Adjacency</vt:lpstr>
      <vt:lpstr>Graphs: Basic Definitions Undirected Graph</vt:lpstr>
      <vt:lpstr>Graphs: Basic Definitions Degree Of a vertex</vt:lpstr>
      <vt:lpstr>Graphs: Basic Definitions Degree Of a Weighted directed Graph</vt:lpstr>
      <vt:lpstr>Graphs: Basic Definitions A weighted graph</vt:lpstr>
      <vt:lpstr>Graphs: Basic Definitions Directed graph</vt:lpstr>
      <vt:lpstr>Graphs: Basic Definitions Directed graph</vt:lpstr>
      <vt:lpstr>Graphs: Basic Definitions Directed weighted graph</vt:lpstr>
      <vt:lpstr>Graph representation – undirected</vt:lpstr>
      <vt:lpstr>Directed Graphs</vt:lpstr>
      <vt:lpstr>Directed Graphs</vt:lpstr>
      <vt:lpstr>Directed Graphs</vt:lpstr>
      <vt:lpstr>Graph Representation</vt:lpstr>
      <vt:lpstr>Graph Representation</vt:lpstr>
      <vt:lpstr>Graph Representation</vt:lpstr>
      <vt:lpstr>Adjacency Matrix</vt:lpstr>
      <vt:lpstr>Example: Adjacency Matrix</vt:lpstr>
      <vt:lpstr>Adjacency Matrix</vt:lpstr>
      <vt:lpstr>Adjacency-List Representation</vt:lpstr>
      <vt:lpstr>Example: Adjacency List</vt:lpstr>
      <vt:lpstr>Example: Adjacency List</vt:lpstr>
      <vt:lpstr>Adjacency-List class template</vt:lpstr>
      <vt:lpstr>Searching a Graph</vt:lpstr>
      <vt:lpstr>Searching a Graph</vt:lpstr>
      <vt:lpstr>Depth-First Search (DFS)</vt:lpstr>
      <vt:lpstr>Depth-First Search (DFS)</vt:lpstr>
      <vt:lpstr>Depth-First Search</vt:lpstr>
      <vt:lpstr>Example: Depth-First Search</vt:lpstr>
      <vt:lpstr>Example: Depth-First Search</vt:lpstr>
      <vt:lpstr>Depth-First Search</vt:lpstr>
      <vt:lpstr>Depth-First Search</vt:lpstr>
      <vt:lpstr>Breadth-First Search (BFS)</vt:lpstr>
      <vt:lpstr>Breadth-First Search (BFS)</vt:lpstr>
      <vt:lpstr>Breadth-First Search</vt:lpstr>
      <vt:lpstr>Example: Breadth-First Search</vt:lpstr>
      <vt:lpstr>Example: Breadth-First Search</vt:lpstr>
      <vt:lpstr>Breadth-First Search</vt:lpstr>
      <vt:lpstr>Breadth-First Search</vt:lpstr>
      <vt:lpstr>Graph Traversal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Graphs and Digraphs</dc:title>
  <dc:creator>Steve Armstrong</dc:creator>
  <cp:lastModifiedBy>Sara Abdullah</cp:lastModifiedBy>
  <cp:revision>119</cp:revision>
  <dcterms:created xsi:type="dcterms:W3CDTF">2015-12-12T09:03:18Z</dcterms:created>
  <dcterms:modified xsi:type="dcterms:W3CDTF">2025-12-15T15:05:46Z</dcterms:modified>
</cp:coreProperties>
</file>